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63B"/>
        </a:solidFill>
      </p:bgPr>
    </p:bg>
    <p:spTree>
      <p:nvGrpSpPr>
        <p:cNvPr id="1" name=""/>
        <p:cNvGrpSpPr/>
        <p:nvPr/>
      </p:nvGrpSpPr>
      <p:grpSpPr>
        <a:xfrm>
          <a:off x="0" y="0"/>
          <a:ext cx="0" cy="0"/>
          <a:chOff x="0" y="0"/>
          <a:chExt cx="0" cy="0"/>
        </a:xfrm>
      </p:grpSpPr>
      <p:sp>
        <p:nvSpPr>
          <p:cNvPr id="2" name="Shape 0"/>
          <p:cNvSpPr/>
          <p:nvPr/>
        </p:nvSpPr>
        <p:spPr>
          <a:xfrm>
            <a:off x="9692640" y="-1097280"/>
            <a:ext cx="3840480" cy="3840480"/>
          </a:xfrm>
          <a:prstGeom prst="ellipse">
            <a:avLst/>
          </a:prstGeom>
          <a:solidFill>
            <a:srgbClr val="1B2158"/>
          </a:solidFill>
          <a:ln/>
        </p:spPr>
      </p:sp>
      <p:sp>
        <p:nvSpPr>
          <p:cNvPr id="3" name="Shape 1"/>
          <p:cNvSpPr/>
          <p:nvPr/>
        </p:nvSpPr>
        <p:spPr>
          <a:xfrm>
            <a:off x="-1280160" y="4206240"/>
            <a:ext cx="3291840" cy="3291840"/>
          </a:xfrm>
          <a:prstGeom prst="ellipse">
            <a:avLst/>
          </a:prstGeom>
          <a:solidFill>
            <a:srgbClr val="1B2158"/>
          </a:solidFill>
          <a:ln/>
        </p:spPr>
      </p:sp>
      <p:sp>
        <p:nvSpPr>
          <p:cNvPr id="4" name="Shape 2"/>
          <p:cNvSpPr/>
          <p:nvPr/>
        </p:nvSpPr>
        <p:spPr>
          <a:xfrm>
            <a:off x="8595360" y="5120640"/>
            <a:ext cx="1188720" cy="1188720"/>
          </a:xfrm>
          <a:prstGeom prst="ellipse">
            <a:avLst/>
          </a:prstGeom>
          <a:solidFill>
            <a:srgbClr val="F2B705"/>
          </a:solidFill>
          <a:ln/>
          <a:effectLst>
            <a:outerShdw sx="100000" sy="100000" kx="0" ky="0" algn="bl" rotWithShape="0" blurRad="76200" dist="38100" dir="5400000">
              <a:srgbClr val="000000">
                <a:alpha val="25000"/>
              </a:srgbClr>
            </a:outerShdw>
          </a:effectLst>
        </p:spPr>
      </p:sp>
      <p:sp>
        <p:nvSpPr>
          <p:cNvPr id="5" name="Text 3"/>
          <p:cNvSpPr/>
          <p:nvPr/>
        </p:nvSpPr>
        <p:spPr>
          <a:xfrm>
            <a:off x="822960" y="2331720"/>
            <a:ext cx="10515600" cy="100584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THE EVOLUTION OF ARTIFICIAL INTELLIGENCE</a:t>
            </a:r>
            <a:endParaRPr lang="en-US" sz="4000" dirty="0"/>
          </a:p>
        </p:txBody>
      </p:sp>
      <p:sp>
        <p:nvSpPr>
          <p:cNvPr id="6" name="Text 4"/>
          <p:cNvSpPr/>
          <p:nvPr/>
        </p:nvSpPr>
        <p:spPr>
          <a:xfrm>
            <a:off x="868680" y="3246120"/>
            <a:ext cx="10058400" cy="502920"/>
          </a:xfrm>
          <a:prstGeom prst="rect">
            <a:avLst/>
          </a:prstGeom>
          <a:noFill/>
          <a:ln/>
        </p:spPr>
        <p:txBody>
          <a:bodyPr wrap="square" lIns="0" tIns="0" rIns="0" bIns="0" rtlCol="0" anchor="ctr"/>
          <a:lstStyle/>
          <a:p>
            <a:pPr algn="l" indent="0" marL="0">
              <a:buNone/>
            </a:pPr>
            <a:r>
              <a:rPr lang="en-US" sz="2000" i="1" dirty="0">
                <a:solidFill>
                  <a:srgbClr val="F2B705"/>
                </a:solidFill>
                <a:latin typeface="Calibri" pitchFamily="34" charset="0"/>
                <a:ea typeface="Calibri" pitchFamily="34" charset="-122"/>
                <a:cs typeface="Calibri" pitchFamily="34" charset="-120"/>
              </a:rPr>
              <a:t>A Timeline from the Turing Test to Agentic AI  ·  1950–2026</a:t>
            </a:r>
            <a:endParaRPr lang="en-US" sz="2000" dirty="0"/>
          </a:p>
        </p:txBody>
      </p:sp>
      <p:sp>
        <p:nvSpPr>
          <p:cNvPr id="7" name="Text 5"/>
          <p:cNvSpPr/>
          <p:nvPr/>
        </p:nvSpPr>
        <p:spPr>
          <a:xfrm>
            <a:off x="868680" y="5989320"/>
            <a:ext cx="7315200" cy="365760"/>
          </a:xfrm>
          <a:prstGeom prst="rect">
            <a:avLst/>
          </a:prstGeom>
          <a:noFill/>
          <a:ln/>
        </p:spPr>
        <p:txBody>
          <a:bodyPr wrap="square" lIns="0" tIns="0" rIns="0" bIns="0" rtlCol="0" anchor="ctr"/>
          <a:lstStyle/>
          <a:p>
            <a:pPr algn="l" indent="0" marL="0">
              <a:buNone/>
            </a:pPr>
            <a:r>
              <a:rPr lang="en-US" sz="1300" dirty="0">
                <a:solidFill>
                  <a:srgbClr val="AEB6E0"/>
                </a:solidFill>
                <a:latin typeface="Calibri" pitchFamily="34" charset="0"/>
                <a:ea typeface="Calibri" pitchFamily="34" charset="-122"/>
                <a:cs typeface="Calibri" pitchFamily="34" charset="-120"/>
              </a:rPr>
              <a:t>Prepared for: AI/ML Discussion — Digital Timeline Activity</a:t>
            </a:r>
            <a:endParaRPr lang="en-US" sz="1300" dirty="0"/>
          </a:p>
        </p:txBody>
      </p:sp>
      <p:sp>
        <p:nvSpPr>
          <p:cNvPr id="8" name="Text 6"/>
          <p:cNvSpPr/>
          <p:nvPr/>
        </p:nvSpPr>
        <p:spPr>
          <a:xfrm>
            <a:off x="868680" y="6309360"/>
            <a:ext cx="7315200" cy="320040"/>
          </a:xfrm>
          <a:prstGeom prst="rect">
            <a:avLst/>
          </a:prstGeom>
          <a:noFill/>
          <a:ln/>
        </p:spPr>
        <p:txBody>
          <a:bodyPr wrap="square" lIns="0" tIns="0" rIns="0" bIns="0" rtlCol="0" anchor="ctr"/>
          <a:lstStyle/>
          <a:p>
            <a:pPr algn="l" indent="0" marL="0">
              <a:buNone/>
            </a:pPr>
            <a:r>
              <a:rPr lang="en-US" sz="1200" dirty="0">
                <a:solidFill>
                  <a:srgbClr val="8890C0"/>
                </a:solidFill>
                <a:latin typeface="Calibri" pitchFamily="34" charset="0"/>
                <a:ea typeface="Calibri" pitchFamily="34" charset="-122"/>
                <a:cs typeface="Calibri" pitchFamily="34" charset="-120"/>
              </a:rPr>
              <a:t>[Your Name]  ·  [Course Name]  ·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48640" y="457200"/>
            <a:ext cx="7315200" cy="640080"/>
          </a:xfrm>
          <a:prstGeom prst="rect">
            <a:avLst/>
          </a:prstGeom>
          <a:noFill/>
          <a:ln/>
        </p:spPr>
        <p:txBody>
          <a:bodyPr wrap="square" lIns="0" tIns="0" rIns="0" bIns="0" rtlCol="0" anchor="ctr"/>
          <a:lstStyle/>
          <a:p>
            <a:pPr indent="0" marL="0">
              <a:buNone/>
            </a:pPr>
            <a:r>
              <a:rPr lang="en-US" sz="3400" b="1" dirty="0">
                <a:solidFill>
                  <a:srgbClr val="1B1F3B"/>
                </a:solidFill>
                <a:latin typeface="Cambria" pitchFamily="34" charset="0"/>
                <a:ea typeface="Cambria" pitchFamily="34" charset="-122"/>
                <a:cs typeface="Cambria" pitchFamily="34" charset="-120"/>
              </a:rPr>
              <a:t>Five Eras, One Story</a:t>
            </a:r>
            <a:endParaRPr lang="en-US" sz="3400" dirty="0"/>
          </a:p>
        </p:txBody>
      </p:sp>
      <p:sp>
        <p:nvSpPr>
          <p:cNvPr id="3" name="Text 1"/>
          <p:cNvSpPr/>
          <p:nvPr/>
        </p:nvSpPr>
        <p:spPr>
          <a:xfrm>
            <a:off x="548640" y="1234440"/>
            <a:ext cx="5943600" cy="3291840"/>
          </a:xfrm>
          <a:prstGeom prst="rect">
            <a:avLst/>
          </a:prstGeom>
          <a:noFill/>
          <a:ln/>
        </p:spPr>
        <p:txBody>
          <a:bodyPr wrap="square" lIns="0" tIns="0" rIns="0" bIns="0" rtlCol="0" anchor="t"/>
          <a:lstStyle/>
          <a:p>
            <a:pPr algn="l" indent="0" marL="0">
              <a:lnSpc>
                <a:spcPct val="125000"/>
              </a:lnSpc>
              <a:buNone/>
            </a:pPr>
            <a:r>
              <a:rPr lang="en-US" sz="1500" dirty="0">
                <a:solidFill>
                  <a:srgbClr val="4A5568"/>
                </a:solidFill>
                <a:latin typeface="Calibri" pitchFamily="34" charset="0"/>
                <a:ea typeface="Calibri" pitchFamily="34" charset="-122"/>
                <a:cs typeface="Calibri" pitchFamily="34" charset="-120"/>
              </a:rPr>
              <a:t>Artificial intelligence didn't arrive overnight. It moved through decades of bold theory, painful funding collapses, and sudden leaps once hardware finally caught up with the math. This timeline traces that path: the founding ideas of the 1950s, two “AI winters” that nearly ended the field, and the deep learning and cloud computing boom that produced today's generative and agentic AI systems.</a:t>
            </a:r>
            <a:endParaRPr lang="en-US" sz="1500" dirty="0"/>
          </a:p>
        </p:txBody>
      </p:sp>
      <p:sp>
        <p:nvSpPr>
          <p:cNvPr id="4" name="Text 2"/>
          <p:cNvSpPr/>
          <p:nvPr/>
        </p:nvSpPr>
        <p:spPr>
          <a:xfrm>
            <a:off x="548640" y="4663440"/>
            <a:ext cx="5943600" cy="822960"/>
          </a:xfrm>
          <a:prstGeom prst="rect">
            <a:avLst/>
          </a:prstGeom>
          <a:noFill/>
          <a:ln/>
        </p:spPr>
        <p:txBody>
          <a:bodyPr wrap="square" lIns="0" tIns="0" rIns="0" bIns="0" rtlCol="0" anchor="t"/>
          <a:lstStyle/>
          <a:p>
            <a:pPr algn="l" indent="0" marL="0">
              <a:buNone/>
            </a:pPr>
            <a:r>
              <a:rPr lang="en-US" sz="1150" i="1" dirty="0">
                <a:solidFill>
                  <a:srgbClr val="7A8399"/>
                </a:solidFill>
                <a:latin typeface="Calibri" pitchFamily="34" charset="0"/>
                <a:ea typeface="Calibri" pitchFamily="34" charset="-122"/>
                <a:cs typeface="Calibri" pitchFamily="34" charset="-120"/>
              </a:rPr>
              <a:t>Sources include a documentary history, an IEEE technical overview, and Our World in Data's compute-growth analysis (full citations on the final slide).</a:t>
            </a:r>
            <a:endParaRPr lang="en-US" sz="1150" dirty="0"/>
          </a:p>
        </p:txBody>
      </p:sp>
      <p:sp>
        <p:nvSpPr>
          <p:cNvPr id="5" name="Shape 3"/>
          <p:cNvSpPr/>
          <p:nvPr/>
        </p:nvSpPr>
        <p:spPr>
          <a:xfrm>
            <a:off x="7086600" y="502920"/>
            <a:ext cx="384048" cy="384048"/>
          </a:xfrm>
          <a:prstGeom prst="ellipse">
            <a:avLst/>
          </a:prstGeom>
          <a:solidFill>
            <a:srgbClr val="12163B"/>
          </a:solidFill>
          <a:ln/>
        </p:spPr>
      </p:sp>
      <p:sp>
        <p:nvSpPr>
          <p:cNvPr id="6" name="Text 4"/>
          <p:cNvSpPr/>
          <p:nvPr/>
        </p:nvSpPr>
        <p:spPr>
          <a:xfrm>
            <a:off x="7635240" y="448056"/>
            <a:ext cx="1554480" cy="274320"/>
          </a:xfrm>
          <a:prstGeom prst="rect">
            <a:avLst/>
          </a:prstGeom>
          <a:noFill/>
          <a:ln/>
        </p:spPr>
        <p:txBody>
          <a:bodyPr wrap="square" lIns="0" tIns="0" rIns="0" bIns="0" rtlCol="0" anchor="ctr"/>
          <a:lstStyle/>
          <a:p>
            <a:pPr indent="0" marL="0">
              <a:buNone/>
            </a:pPr>
            <a:r>
              <a:rPr lang="en-US" sz="1250" b="1" dirty="0">
                <a:solidFill>
                  <a:srgbClr val="1B1F3B"/>
                </a:solidFill>
                <a:latin typeface="Calibri" pitchFamily="34" charset="0"/>
                <a:ea typeface="Calibri" pitchFamily="34" charset="-122"/>
                <a:cs typeface="Calibri" pitchFamily="34" charset="-120"/>
              </a:rPr>
              <a:t>1950–1973</a:t>
            </a:r>
            <a:endParaRPr lang="en-US" sz="1250" dirty="0"/>
          </a:p>
        </p:txBody>
      </p:sp>
      <p:sp>
        <p:nvSpPr>
          <p:cNvPr id="7" name="Text 5"/>
          <p:cNvSpPr/>
          <p:nvPr/>
        </p:nvSpPr>
        <p:spPr>
          <a:xfrm>
            <a:off x="7635240" y="704088"/>
            <a:ext cx="3840480" cy="292608"/>
          </a:xfrm>
          <a:prstGeom prst="rect">
            <a:avLst/>
          </a:prstGeom>
          <a:noFill/>
          <a:ln/>
        </p:spPr>
        <p:txBody>
          <a:bodyPr wrap="square" lIns="0" tIns="0" rIns="0" bIns="0" rtlCol="0" anchor="ctr"/>
          <a:lstStyle/>
          <a:p>
            <a:pPr indent="0" marL="0">
              <a:buNone/>
            </a:pPr>
            <a:r>
              <a:rPr lang="en-US" sz="1350" dirty="0">
                <a:solidFill>
                  <a:srgbClr val="4A5568"/>
                </a:solidFill>
                <a:latin typeface="Calibri" pitchFamily="34" charset="0"/>
                <a:ea typeface="Calibri" pitchFamily="34" charset="-122"/>
                <a:cs typeface="Calibri" pitchFamily="34" charset="-120"/>
              </a:rPr>
              <a:t>Foundations</a:t>
            </a:r>
            <a:endParaRPr lang="en-US" sz="1350" dirty="0"/>
          </a:p>
        </p:txBody>
      </p:sp>
      <p:sp>
        <p:nvSpPr>
          <p:cNvPr id="8" name="Shape 6"/>
          <p:cNvSpPr/>
          <p:nvPr/>
        </p:nvSpPr>
        <p:spPr>
          <a:xfrm>
            <a:off x="7086600" y="1581912"/>
            <a:ext cx="384048" cy="384048"/>
          </a:xfrm>
          <a:prstGeom prst="ellipse">
            <a:avLst/>
          </a:prstGeom>
          <a:solidFill>
            <a:srgbClr val="7C8DB5"/>
          </a:solidFill>
          <a:ln/>
        </p:spPr>
      </p:sp>
      <p:sp>
        <p:nvSpPr>
          <p:cNvPr id="9" name="Text 7"/>
          <p:cNvSpPr/>
          <p:nvPr/>
        </p:nvSpPr>
        <p:spPr>
          <a:xfrm>
            <a:off x="7635240" y="1527048"/>
            <a:ext cx="1554480" cy="274320"/>
          </a:xfrm>
          <a:prstGeom prst="rect">
            <a:avLst/>
          </a:prstGeom>
          <a:noFill/>
          <a:ln/>
        </p:spPr>
        <p:txBody>
          <a:bodyPr wrap="square" lIns="0" tIns="0" rIns="0" bIns="0" rtlCol="0" anchor="ctr"/>
          <a:lstStyle/>
          <a:p>
            <a:pPr indent="0" marL="0">
              <a:buNone/>
            </a:pPr>
            <a:r>
              <a:rPr lang="en-US" sz="1250" b="1" dirty="0">
                <a:solidFill>
                  <a:srgbClr val="1B1F3B"/>
                </a:solidFill>
                <a:latin typeface="Calibri" pitchFamily="34" charset="0"/>
                <a:ea typeface="Calibri" pitchFamily="34" charset="-122"/>
                <a:cs typeface="Calibri" pitchFamily="34" charset="-120"/>
              </a:rPr>
              <a:t>1974–1993</a:t>
            </a:r>
            <a:endParaRPr lang="en-US" sz="1250" dirty="0"/>
          </a:p>
        </p:txBody>
      </p:sp>
      <p:sp>
        <p:nvSpPr>
          <p:cNvPr id="10" name="Text 8"/>
          <p:cNvSpPr/>
          <p:nvPr/>
        </p:nvSpPr>
        <p:spPr>
          <a:xfrm>
            <a:off x="7635240" y="1783080"/>
            <a:ext cx="3840480" cy="292608"/>
          </a:xfrm>
          <a:prstGeom prst="rect">
            <a:avLst/>
          </a:prstGeom>
          <a:noFill/>
          <a:ln/>
        </p:spPr>
        <p:txBody>
          <a:bodyPr wrap="square" lIns="0" tIns="0" rIns="0" bIns="0" rtlCol="0" anchor="ctr"/>
          <a:lstStyle/>
          <a:p>
            <a:pPr indent="0" marL="0">
              <a:buNone/>
            </a:pPr>
            <a:r>
              <a:rPr lang="en-US" sz="1350" dirty="0">
                <a:solidFill>
                  <a:srgbClr val="4A5568"/>
                </a:solidFill>
                <a:latin typeface="Calibri" pitchFamily="34" charset="0"/>
                <a:ea typeface="Calibri" pitchFamily="34" charset="-122"/>
                <a:cs typeface="Calibri" pitchFamily="34" charset="-120"/>
              </a:rPr>
              <a:t>The AI Winters</a:t>
            </a:r>
            <a:endParaRPr lang="en-US" sz="1350" dirty="0"/>
          </a:p>
        </p:txBody>
      </p:sp>
      <p:sp>
        <p:nvSpPr>
          <p:cNvPr id="11" name="Shape 9"/>
          <p:cNvSpPr/>
          <p:nvPr/>
        </p:nvSpPr>
        <p:spPr>
          <a:xfrm>
            <a:off x="7086600" y="2660904"/>
            <a:ext cx="384048" cy="384048"/>
          </a:xfrm>
          <a:prstGeom prst="ellipse">
            <a:avLst/>
          </a:prstGeom>
          <a:solidFill>
            <a:srgbClr val="F2B705"/>
          </a:solidFill>
          <a:ln/>
        </p:spPr>
      </p:sp>
      <p:sp>
        <p:nvSpPr>
          <p:cNvPr id="12" name="Text 10"/>
          <p:cNvSpPr/>
          <p:nvPr/>
        </p:nvSpPr>
        <p:spPr>
          <a:xfrm>
            <a:off x="7635240" y="2606040"/>
            <a:ext cx="1554480" cy="274320"/>
          </a:xfrm>
          <a:prstGeom prst="rect">
            <a:avLst/>
          </a:prstGeom>
          <a:noFill/>
          <a:ln/>
        </p:spPr>
        <p:txBody>
          <a:bodyPr wrap="square" lIns="0" tIns="0" rIns="0" bIns="0" rtlCol="0" anchor="ctr"/>
          <a:lstStyle/>
          <a:p>
            <a:pPr indent="0" marL="0">
              <a:buNone/>
            </a:pPr>
            <a:r>
              <a:rPr lang="en-US" sz="1250" b="1" dirty="0">
                <a:solidFill>
                  <a:srgbClr val="1B1F3B"/>
                </a:solidFill>
                <a:latin typeface="Calibri" pitchFamily="34" charset="0"/>
                <a:ea typeface="Calibri" pitchFamily="34" charset="-122"/>
                <a:cs typeface="Calibri" pitchFamily="34" charset="-120"/>
              </a:rPr>
              <a:t>1997–2011</a:t>
            </a:r>
            <a:endParaRPr lang="en-US" sz="1250" dirty="0"/>
          </a:p>
        </p:txBody>
      </p:sp>
      <p:sp>
        <p:nvSpPr>
          <p:cNvPr id="13" name="Text 11"/>
          <p:cNvSpPr/>
          <p:nvPr/>
        </p:nvSpPr>
        <p:spPr>
          <a:xfrm>
            <a:off x="7635240" y="2862072"/>
            <a:ext cx="3840480" cy="292608"/>
          </a:xfrm>
          <a:prstGeom prst="rect">
            <a:avLst/>
          </a:prstGeom>
          <a:noFill/>
          <a:ln/>
        </p:spPr>
        <p:txBody>
          <a:bodyPr wrap="square" lIns="0" tIns="0" rIns="0" bIns="0" rtlCol="0" anchor="ctr"/>
          <a:lstStyle/>
          <a:p>
            <a:pPr indent="0" marL="0">
              <a:buNone/>
            </a:pPr>
            <a:r>
              <a:rPr lang="en-US" sz="1350" dirty="0">
                <a:solidFill>
                  <a:srgbClr val="4A5568"/>
                </a:solidFill>
                <a:latin typeface="Calibri" pitchFamily="34" charset="0"/>
                <a:ea typeface="Calibri" pitchFamily="34" charset="-122"/>
                <a:cs typeface="Calibri" pitchFamily="34" charset="-120"/>
              </a:rPr>
              <a:t>Practical AI Emerges</a:t>
            </a:r>
            <a:endParaRPr lang="en-US" sz="1350" dirty="0"/>
          </a:p>
        </p:txBody>
      </p:sp>
      <p:sp>
        <p:nvSpPr>
          <p:cNvPr id="14" name="Shape 12"/>
          <p:cNvSpPr/>
          <p:nvPr/>
        </p:nvSpPr>
        <p:spPr>
          <a:xfrm>
            <a:off x="7086600" y="3739896"/>
            <a:ext cx="384048" cy="384048"/>
          </a:xfrm>
          <a:prstGeom prst="ellipse">
            <a:avLst/>
          </a:prstGeom>
          <a:solidFill>
            <a:srgbClr val="F2B705"/>
          </a:solidFill>
          <a:ln/>
        </p:spPr>
      </p:sp>
      <p:sp>
        <p:nvSpPr>
          <p:cNvPr id="15" name="Text 13"/>
          <p:cNvSpPr/>
          <p:nvPr/>
        </p:nvSpPr>
        <p:spPr>
          <a:xfrm>
            <a:off x="7635240" y="3685032"/>
            <a:ext cx="1554480" cy="274320"/>
          </a:xfrm>
          <a:prstGeom prst="rect">
            <a:avLst/>
          </a:prstGeom>
          <a:noFill/>
          <a:ln/>
        </p:spPr>
        <p:txBody>
          <a:bodyPr wrap="square" lIns="0" tIns="0" rIns="0" bIns="0" rtlCol="0" anchor="ctr"/>
          <a:lstStyle/>
          <a:p>
            <a:pPr indent="0" marL="0">
              <a:buNone/>
            </a:pPr>
            <a:r>
              <a:rPr lang="en-US" sz="1250" b="1" dirty="0">
                <a:solidFill>
                  <a:srgbClr val="1B1F3B"/>
                </a:solidFill>
                <a:latin typeface="Calibri" pitchFamily="34" charset="0"/>
                <a:ea typeface="Calibri" pitchFamily="34" charset="-122"/>
                <a:cs typeface="Calibri" pitchFamily="34" charset="-120"/>
              </a:rPr>
              <a:t>2012–2017</a:t>
            </a:r>
            <a:endParaRPr lang="en-US" sz="1250" dirty="0"/>
          </a:p>
        </p:txBody>
      </p:sp>
      <p:sp>
        <p:nvSpPr>
          <p:cNvPr id="16" name="Text 14"/>
          <p:cNvSpPr/>
          <p:nvPr/>
        </p:nvSpPr>
        <p:spPr>
          <a:xfrm>
            <a:off x="7635240" y="3941064"/>
            <a:ext cx="3840480" cy="292608"/>
          </a:xfrm>
          <a:prstGeom prst="rect">
            <a:avLst/>
          </a:prstGeom>
          <a:noFill/>
          <a:ln/>
        </p:spPr>
        <p:txBody>
          <a:bodyPr wrap="square" lIns="0" tIns="0" rIns="0" bIns="0" rtlCol="0" anchor="ctr"/>
          <a:lstStyle/>
          <a:p>
            <a:pPr indent="0" marL="0">
              <a:buNone/>
            </a:pPr>
            <a:r>
              <a:rPr lang="en-US" sz="1350" dirty="0">
                <a:solidFill>
                  <a:srgbClr val="4A5568"/>
                </a:solidFill>
                <a:latin typeface="Calibri" pitchFamily="34" charset="0"/>
                <a:ea typeface="Calibri" pitchFamily="34" charset="-122"/>
                <a:cs typeface="Calibri" pitchFamily="34" charset="-120"/>
              </a:rPr>
              <a:t>Deep Learning Revolution</a:t>
            </a:r>
            <a:endParaRPr lang="en-US" sz="1350" dirty="0"/>
          </a:p>
        </p:txBody>
      </p:sp>
      <p:sp>
        <p:nvSpPr>
          <p:cNvPr id="17" name="Shape 15"/>
          <p:cNvSpPr/>
          <p:nvPr/>
        </p:nvSpPr>
        <p:spPr>
          <a:xfrm>
            <a:off x="7086600" y="4818888"/>
            <a:ext cx="384048" cy="384048"/>
          </a:xfrm>
          <a:prstGeom prst="ellipse">
            <a:avLst/>
          </a:prstGeom>
          <a:solidFill>
            <a:srgbClr val="F2B705"/>
          </a:solidFill>
          <a:ln/>
        </p:spPr>
      </p:sp>
      <p:sp>
        <p:nvSpPr>
          <p:cNvPr id="18" name="Text 16"/>
          <p:cNvSpPr/>
          <p:nvPr/>
        </p:nvSpPr>
        <p:spPr>
          <a:xfrm>
            <a:off x="7635240" y="4764024"/>
            <a:ext cx="1554480" cy="274320"/>
          </a:xfrm>
          <a:prstGeom prst="rect">
            <a:avLst/>
          </a:prstGeom>
          <a:noFill/>
          <a:ln/>
        </p:spPr>
        <p:txBody>
          <a:bodyPr wrap="square" lIns="0" tIns="0" rIns="0" bIns="0" rtlCol="0" anchor="ctr"/>
          <a:lstStyle/>
          <a:p>
            <a:pPr indent="0" marL="0">
              <a:buNone/>
            </a:pPr>
            <a:r>
              <a:rPr lang="en-US" sz="1250" b="1" dirty="0">
                <a:solidFill>
                  <a:srgbClr val="1B1F3B"/>
                </a:solidFill>
                <a:latin typeface="Calibri" pitchFamily="34" charset="0"/>
                <a:ea typeface="Calibri" pitchFamily="34" charset="-122"/>
                <a:cs typeface="Calibri" pitchFamily="34" charset="-120"/>
              </a:rPr>
              <a:t>2018–2026</a:t>
            </a:r>
            <a:endParaRPr lang="en-US" sz="1250" dirty="0"/>
          </a:p>
        </p:txBody>
      </p:sp>
      <p:sp>
        <p:nvSpPr>
          <p:cNvPr id="19" name="Text 17"/>
          <p:cNvSpPr/>
          <p:nvPr/>
        </p:nvSpPr>
        <p:spPr>
          <a:xfrm>
            <a:off x="7635240" y="5020056"/>
            <a:ext cx="3840480" cy="292608"/>
          </a:xfrm>
          <a:prstGeom prst="rect">
            <a:avLst/>
          </a:prstGeom>
          <a:noFill/>
          <a:ln/>
        </p:spPr>
        <p:txBody>
          <a:bodyPr wrap="square" lIns="0" tIns="0" rIns="0" bIns="0" rtlCol="0" anchor="ctr"/>
          <a:lstStyle/>
          <a:p>
            <a:pPr indent="0" marL="0">
              <a:buNone/>
            </a:pPr>
            <a:r>
              <a:rPr lang="en-US" sz="1350" dirty="0">
                <a:solidFill>
                  <a:srgbClr val="4A5568"/>
                </a:solidFill>
                <a:latin typeface="Calibri" pitchFamily="34" charset="0"/>
                <a:ea typeface="Calibri" pitchFamily="34" charset="-122"/>
                <a:cs typeface="Calibri" pitchFamily="34" charset="-120"/>
              </a:rPr>
              <a:t>Generative AI &amp; Cloud Boom</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48640" y="411480"/>
            <a:ext cx="8595360" cy="640080"/>
          </a:xfrm>
          <a:prstGeom prst="rect">
            <a:avLst/>
          </a:prstGeom>
          <a:noFill/>
          <a:ln/>
        </p:spPr>
        <p:txBody>
          <a:bodyPr wrap="square" lIns="0" tIns="0" rIns="0" bIns="0" rtlCol="0" anchor="ctr"/>
          <a:lstStyle/>
          <a:p>
            <a:pPr indent="0" marL="0">
              <a:buNone/>
            </a:pPr>
            <a:r>
              <a:rPr lang="en-US" sz="3200" b="1" dirty="0">
                <a:solidFill>
                  <a:srgbClr val="1B1F3B"/>
                </a:solidFill>
                <a:latin typeface="Cambria" pitchFamily="34" charset="0"/>
                <a:ea typeface="Cambria" pitchFamily="34" charset="-122"/>
                <a:cs typeface="Cambria" pitchFamily="34" charset="-120"/>
              </a:rPr>
              <a:t>Foundations</a:t>
            </a:r>
            <a:endParaRPr lang="en-US" sz="3200" dirty="0"/>
          </a:p>
        </p:txBody>
      </p:sp>
      <p:sp>
        <p:nvSpPr>
          <p:cNvPr id="3" name="Text 1"/>
          <p:cNvSpPr/>
          <p:nvPr/>
        </p:nvSpPr>
        <p:spPr>
          <a:xfrm>
            <a:off x="566928" y="960120"/>
            <a:ext cx="8595360" cy="365760"/>
          </a:xfrm>
          <a:prstGeom prst="rect">
            <a:avLst/>
          </a:prstGeom>
          <a:noFill/>
          <a:ln/>
        </p:spPr>
        <p:txBody>
          <a:bodyPr wrap="square" lIns="0" tIns="0" rIns="0" bIns="0" rtlCol="0" anchor="ctr"/>
          <a:lstStyle/>
          <a:p>
            <a:pPr indent="0" marL="0">
              <a:buNone/>
            </a:pPr>
            <a:r>
              <a:rPr lang="en-US" sz="1400" i="1" dirty="0">
                <a:solidFill>
                  <a:srgbClr val="4A5568"/>
                </a:solidFill>
                <a:latin typeface="Calibri" pitchFamily="34" charset="0"/>
                <a:ea typeface="Calibri" pitchFamily="34" charset="-122"/>
                <a:cs typeface="Calibri" pitchFamily="34" charset="-120"/>
              </a:rPr>
              <a:t>Era 1 — Where the field began</a:t>
            </a:r>
            <a:endParaRPr lang="en-US" sz="1400" dirty="0"/>
          </a:p>
        </p:txBody>
      </p:sp>
      <p:sp>
        <p:nvSpPr>
          <p:cNvPr id="4" name="Shape 2"/>
          <p:cNvSpPr/>
          <p:nvPr/>
        </p:nvSpPr>
        <p:spPr>
          <a:xfrm>
            <a:off x="9646920" y="457200"/>
            <a:ext cx="2011680" cy="502920"/>
          </a:xfrm>
          <a:prstGeom prst="roundRect">
            <a:avLst>
              <a:gd name="adj" fmla="val 50909"/>
            </a:avLst>
          </a:prstGeom>
          <a:solidFill>
            <a:srgbClr val="12163B"/>
          </a:solidFill>
          <a:ln/>
        </p:spPr>
      </p:sp>
      <p:sp>
        <p:nvSpPr>
          <p:cNvPr id="5" name="Text 3"/>
          <p:cNvSpPr/>
          <p:nvPr/>
        </p:nvSpPr>
        <p:spPr>
          <a:xfrm>
            <a:off x="9646920" y="457200"/>
            <a:ext cx="201168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1950 – 1973</a:t>
            </a:r>
            <a:endParaRPr lang="en-US" sz="1500" dirty="0"/>
          </a:p>
        </p:txBody>
      </p:sp>
      <p:sp>
        <p:nvSpPr>
          <p:cNvPr id="6" name="Shape 4"/>
          <p:cNvSpPr/>
          <p:nvPr/>
        </p:nvSpPr>
        <p:spPr>
          <a:xfrm>
            <a:off x="1005840" y="3781044"/>
            <a:ext cx="10195560" cy="27432"/>
          </a:xfrm>
          <a:prstGeom prst="rect">
            <a:avLst/>
          </a:prstGeom>
          <a:solidFill>
            <a:srgbClr val="12163B"/>
          </a:solidFill>
          <a:ln/>
        </p:spPr>
      </p:sp>
      <p:sp>
        <p:nvSpPr>
          <p:cNvPr id="7" name="Shape 5"/>
          <p:cNvSpPr/>
          <p:nvPr/>
        </p:nvSpPr>
        <p:spPr>
          <a:xfrm>
            <a:off x="996696" y="3337560"/>
            <a:ext cx="18288" cy="457200"/>
          </a:xfrm>
          <a:prstGeom prst="rect">
            <a:avLst/>
          </a:prstGeom>
          <a:solidFill>
            <a:srgbClr val="12163B"/>
          </a:solidFill>
          <a:ln/>
        </p:spPr>
      </p:sp>
      <p:sp>
        <p:nvSpPr>
          <p:cNvPr id="8" name="Shape 6"/>
          <p:cNvSpPr/>
          <p:nvPr/>
        </p:nvSpPr>
        <p:spPr>
          <a:xfrm>
            <a:off x="713232" y="3502152"/>
            <a:ext cx="585216" cy="585216"/>
          </a:xfrm>
          <a:prstGeom prst="ellipse">
            <a:avLst/>
          </a:prstGeom>
          <a:solidFill>
            <a:srgbClr val="12163B"/>
          </a:solidFill>
          <a:ln w="31750">
            <a:solidFill>
              <a:srgbClr val="FFFFFF"/>
            </a:solidFill>
            <a:prstDash val="solid"/>
          </a:ln>
          <a:effectLst>
            <a:outerShdw sx="100000" sy="100000" kx="0" ky="0" algn="bl" rotWithShape="0" blurRad="76200" dist="38100" dir="5400000">
              <a:srgbClr val="000000">
                <a:alpha val="25000"/>
              </a:srgbClr>
            </a:outerShdw>
          </a:effectLst>
        </p:spPr>
      </p:sp>
      <p:sp>
        <p:nvSpPr>
          <p:cNvPr id="9" name="Text 7"/>
          <p:cNvSpPr/>
          <p:nvPr/>
        </p:nvSpPr>
        <p:spPr>
          <a:xfrm>
            <a:off x="713232" y="3502152"/>
            <a:ext cx="585216" cy="58521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1950</a:t>
            </a:r>
            <a:endParaRPr lang="en-US" sz="1150" dirty="0"/>
          </a:p>
        </p:txBody>
      </p:sp>
      <p:sp>
        <p:nvSpPr>
          <p:cNvPr id="10" name="Shape 8"/>
          <p:cNvSpPr/>
          <p:nvPr/>
        </p:nvSpPr>
        <p:spPr>
          <a:xfrm>
            <a:off x="1005840" y="3328416"/>
            <a:ext cx="525780" cy="18288"/>
          </a:xfrm>
          <a:prstGeom prst="rect">
            <a:avLst/>
          </a:prstGeom>
          <a:solidFill>
            <a:srgbClr val="12163B"/>
          </a:solidFill>
          <a:ln/>
        </p:spPr>
      </p:sp>
      <p:sp>
        <p:nvSpPr>
          <p:cNvPr id="11" name="Shape 9"/>
          <p:cNvSpPr/>
          <p:nvPr/>
        </p:nvSpPr>
        <p:spPr>
          <a:xfrm>
            <a:off x="365760" y="1600200"/>
            <a:ext cx="2331720" cy="1691640"/>
          </a:xfrm>
          <a:prstGeom prst="roundRect">
            <a:avLst>
              <a:gd name="adj" fmla="val 4324"/>
            </a:avLst>
          </a:prstGeom>
          <a:solidFill>
            <a:srgbClr val="FFFFFF"/>
          </a:solidFill>
          <a:ln/>
          <a:effectLst>
            <a:outerShdw sx="100000" sy="100000" kx="0" ky="0" algn="bl" rotWithShape="0" blurRad="76200" dist="38100" dir="5400000">
              <a:srgbClr val="1B1F3B">
                <a:alpha val="25000"/>
              </a:srgbClr>
            </a:outerShdw>
          </a:effectLst>
        </p:spPr>
      </p:sp>
      <p:sp>
        <p:nvSpPr>
          <p:cNvPr id="12" name="Text 10"/>
          <p:cNvSpPr/>
          <p:nvPr/>
        </p:nvSpPr>
        <p:spPr>
          <a:xfrm>
            <a:off x="502920" y="1709928"/>
            <a:ext cx="2057400" cy="457200"/>
          </a:xfrm>
          <a:prstGeom prst="rect">
            <a:avLst/>
          </a:prstGeom>
          <a:noFill/>
          <a:ln/>
        </p:spPr>
        <p:txBody>
          <a:bodyPr wrap="square" lIns="0" tIns="0" rIns="0" bIns="0" rtlCol="0" anchor="t"/>
          <a:lstStyle/>
          <a:p>
            <a:pPr algn="l" indent="0" marL="0">
              <a:buNone/>
            </a:pPr>
            <a:r>
              <a:rPr lang="en-US" sz="1300" b="1" dirty="0">
                <a:solidFill>
                  <a:srgbClr val="1B1F3B"/>
                </a:solidFill>
                <a:latin typeface="Calibri" pitchFamily="34" charset="0"/>
                <a:ea typeface="Calibri" pitchFamily="34" charset="-122"/>
                <a:cs typeface="Calibri" pitchFamily="34" charset="-120"/>
              </a:rPr>
              <a:t>The Turing Test</a:t>
            </a:r>
            <a:endParaRPr lang="en-US" sz="1300" dirty="0"/>
          </a:p>
        </p:txBody>
      </p:sp>
      <p:sp>
        <p:nvSpPr>
          <p:cNvPr id="13" name="Text 11"/>
          <p:cNvSpPr/>
          <p:nvPr/>
        </p:nvSpPr>
        <p:spPr>
          <a:xfrm>
            <a:off x="502920" y="2148840"/>
            <a:ext cx="2057400" cy="1033272"/>
          </a:xfrm>
          <a:prstGeom prst="rect">
            <a:avLst/>
          </a:prstGeom>
          <a:noFill/>
          <a:ln/>
        </p:spPr>
        <p:txBody>
          <a:bodyPr wrap="square" lIns="0" tIns="0" rIns="0" bIns="0" rtlCol="0" anchor="t"/>
          <a:lstStyle/>
          <a:p>
            <a:pPr algn="l" indent="0" marL="0">
              <a:lnSpc>
                <a:spcPct val="112000"/>
              </a:lnSpc>
              <a:buNone/>
            </a:pPr>
            <a:r>
              <a:rPr lang="en-US" sz="1050" dirty="0">
                <a:solidFill>
                  <a:srgbClr val="4A5568"/>
                </a:solidFill>
                <a:latin typeface="Calibri" pitchFamily="34" charset="0"/>
                <a:ea typeface="Calibri" pitchFamily="34" charset="-122"/>
                <a:cs typeface="Calibri" pitchFamily="34" charset="-120"/>
              </a:rPr>
              <a:t>Alan Turing proposes a practical test for whether a machine's behavior is indistinguishable from a human's.</a:t>
            </a:r>
            <a:endParaRPr lang="en-US" sz="1050" dirty="0"/>
          </a:p>
        </p:txBody>
      </p:sp>
      <p:sp>
        <p:nvSpPr>
          <p:cNvPr id="14" name="Shape 12"/>
          <p:cNvSpPr/>
          <p:nvPr/>
        </p:nvSpPr>
        <p:spPr>
          <a:xfrm>
            <a:off x="3545586" y="4050792"/>
            <a:ext cx="18288" cy="457200"/>
          </a:xfrm>
          <a:prstGeom prst="rect">
            <a:avLst/>
          </a:prstGeom>
          <a:solidFill>
            <a:srgbClr val="12163B"/>
          </a:solidFill>
          <a:ln/>
        </p:spPr>
      </p:sp>
      <p:sp>
        <p:nvSpPr>
          <p:cNvPr id="15" name="Shape 13"/>
          <p:cNvSpPr/>
          <p:nvPr/>
        </p:nvSpPr>
        <p:spPr>
          <a:xfrm>
            <a:off x="3262122" y="3502152"/>
            <a:ext cx="585216" cy="585216"/>
          </a:xfrm>
          <a:prstGeom prst="ellipse">
            <a:avLst/>
          </a:prstGeom>
          <a:solidFill>
            <a:srgbClr val="12163B"/>
          </a:solidFill>
          <a:ln w="31750">
            <a:solidFill>
              <a:srgbClr val="FFFFFF"/>
            </a:solidFill>
            <a:prstDash val="solid"/>
          </a:ln>
          <a:effectLst>
            <a:outerShdw sx="100000" sy="100000" kx="0" ky="0" algn="bl" rotWithShape="0" blurRad="76200" dist="38100" dir="5400000">
              <a:srgbClr val="000000">
                <a:alpha val="25000"/>
              </a:srgbClr>
            </a:outerShdw>
          </a:effectLst>
        </p:spPr>
      </p:sp>
      <p:sp>
        <p:nvSpPr>
          <p:cNvPr id="16" name="Text 14"/>
          <p:cNvSpPr/>
          <p:nvPr/>
        </p:nvSpPr>
        <p:spPr>
          <a:xfrm>
            <a:off x="3262122" y="3502152"/>
            <a:ext cx="585216" cy="58521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1956</a:t>
            </a:r>
            <a:endParaRPr lang="en-US" sz="1150" dirty="0"/>
          </a:p>
        </p:txBody>
      </p:sp>
      <p:sp>
        <p:nvSpPr>
          <p:cNvPr id="17" name="Shape 15"/>
          <p:cNvSpPr/>
          <p:nvPr/>
        </p:nvSpPr>
        <p:spPr>
          <a:xfrm>
            <a:off x="2388870" y="4553712"/>
            <a:ext cx="2331720" cy="1691640"/>
          </a:xfrm>
          <a:prstGeom prst="roundRect">
            <a:avLst>
              <a:gd name="adj" fmla="val 4324"/>
            </a:avLst>
          </a:prstGeom>
          <a:solidFill>
            <a:srgbClr val="FFFFFF"/>
          </a:solidFill>
          <a:ln/>
          <a:effectLst>
            <a:outerShdw sx="100000" sy="100000" kx="0" ky="0" algn="bl" rotWithShape="0" blurRad="76200" dist="38100" dir="5400000">
              <a:srgbClr val="1B1F3B">
                <a:alpha val="25000"/>
              </a:srgbClr>
            </a:outerShdw>
          </a:effectLst>
        </p:spPr>
      </p:sp>
      <p:sp>
        <p:nvSpPr>
          <p:cNvPr id="18" name="Text 16"/>
          <p:cNvSpPr/>
          <p:nvPr/>
        </p:nvSpPr>
        <p:spPr>
          <a:xfrm>
            <a:off x="2526030" y="4663440"/>
            <a:ext cx="2057400" cy="457200"/>
          </a:xfrm>
          <a:prstGeom prst="rect">
            <a:avLst/>
          </a:prstGeom>
          <a:noFill/>
          <a:ln/>
        </p:spPr>
        <p:txBody>
          <a:bodyPr wrap="square" lIns="0" tIns="0" rIns="0" bIns="0" rtlCol="0" anchor="t"/>
          <a:lstStyle/>
          <a:p>
            <a:pPr algn="l" indent="0" marL="0">
              <a:buNone/>
            </a:pPr>
            <a:r>
              <a:rPr lang="en-US" sz="1300" b="1" dirty="0">
                <a:solidFill>
                  <a:srgbClr val="1B1F3B"/>
                </a:solidFill>
                <a:latin typeface="Calibri" pitchFamily="34" charset="0"/>
                <a:ea typeface="Calibri" pitchFamily="34" charset="-122"/>
                <a:cs typeface="Calibri" pitchFamily="34" charset="-120"/>
              </a:rPr>
              <a:t>Dartmouth Conference</a:t>
            </a:r>
            <a:endParaRPr lang="en-US" sz="1300" dirty="0"/>
          </a:p>
        </p:txBody>
      </p:sp>
      <p:sp>
        <p:nvSpPr>
          <p:cNvPr id="19" name="Text 17"/>
          <p:cNvSpPr/>
          <p:nvPr/>
        </p:nvSpPr>
        <p:spPr>
          <a:xfrm>
            <a:off x="2526030" y="5102352"/>
            <a:ext cx="2057400" cy="1033272"/>
          </a:xfrm>
          <a:prstGeom prst="rect">
            <a:avLst/>
          </a:prstGeom>
          <a:noFill/>
          <a:ln/>
        </p:spPr>
        <p:txBody>
          <a:bodyPr wrap="square" lIns="0" tIns="0" rIns="0" bIns="0" rtlCol="0" anchor="t"/>
          <a:lstStyle/>
          <a:p>
            <a:pPr algn="l" indent="0" marL="0">
              <a:lnSpc>
                <a:spcPct val="112000"/>
              </a:lnSpc>
              <a:buNone/>
            </a:pPr>
            <a:r>
              <a:rPr lang="en-US" sz="1050" dirty="0">
                <a:solidFill>
                  <a:srgbClr val="4A5568"/>
                </a:solidFill>
                <a:latin typeface="Calibri" pitchFamily="34" charset="0"/>
                <a:ea typeface="Calibri" pitchFamily="34" charset="-122"/>
                <a:cs typeface="Calibri" pitchFamily="34" charset="-120"/>
              </a:rPr>
              <a:t>John McCarthy coins the term “Artificial Intelligence” at a summer workshop, launching AI as a field.</a:t>
            </a:r>
            <a:endParaRPr lang="en-US" sz="1050" dirty="0"/>
          </a:p>
        </p:txBody>
      </p:sp>
      <p:sp>
        <p:nvSpPr>
          <p:cNvPr id="20" name="Shape 18"/>
          <p:cNvSpPr/>
          <p:nvPr/>
        </p:nvSpPr>
        <p:spPr>
          <a:xfrm>
            <a:off x="6094476" y="3337560"/>
            <a:ext cx="18288" cy="457200"/>
          </a:xfrm>
          <a:prstGeom prst="rect">
            <a:avLst/>
          </a:prstGeom>
          <a:solidFill>
            <a:srgbClr val="12163B"/>
          </a:solidFill>
          <a:ln/>
        </p:spPr>
      </p:sp>
      <p:sp>
        <p:nvSpPr>
          <p:cNvPr id="21" name="Shape 19"/>
          <p:cNvSpPr/>
          <p:nvPr/>
        </p:nvSpPr>
        <p:spPr>
          <a:xfrm>
            <a:off x="5811012" y="3502152"/>
            <a:ext cx="585216" cy="585216"/>
          </a:xfrm>
          <a:prstGeom prst="ellipse">
            <a:avLst/>
          </a:prstGeom>
          <a:solidFill>
            <a:srgbClr val="12163B"/>
          </a:solidFill>
          <a:ln w="31750">
            <a:solidFill>
              <a:srgbClr val="FFFFFF"/>
            </a:solidFill>
            <a:prstDash val="solid"/>
          </a:ln>
          <a:effectLst>
            <a:outerShdw sx="100000" sy="100000" kx="0" ky="0" algn="bl" rotWithShape="0" blurRad="76200" dist="38100" dir="5400000">
              <a:srgbClr val="000000">
                <a:alpha val="25000"/>
              </a:srgbClr>
            </a:outerShdw>
          </a:effectLst>
        </p:spPr>
      </p:sp>
      <p:sp>
        <p:nvSpPr>
          <p:cNvPr id="22" name="Text 20"/>
          <p:cNvSpPr/>
          <p:nvPr/>
        </p:nvSpPr>
        <p:spPr>
          <a:xfrm>
            <a:off x="5811012" y="3502152"/>
            <a:ext cx="585216" cy="58521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1958</a:t>
            </a:r>
            <a:endParaRPr lang="en-US" sz="1150" dirty="0"/>
          </a:p>
        </p:txBody>
      </p:sp>
      <p:sp>
        <p:nvSpPr>
          <p:cNvPr id="23" name="Shape 21"/>
          <p:cNvSpPr/>
          <p:nvPr/>
        </p:nvSpPr>
        <p:spPr>
          <a:xfrm>
            <a:off x="4937760" y="1600200"/>
            <a:ext cx="2331720" cy="1691640"/>
          </a:xfrm>
          <a:prstGeom prst="roundRect">
            <a:avLst>
              <a:gd name="adj" fmla="val 4324"/>
            </a:avLst>
          </a:prstGeom>
          <a:solidFill>
            <a:srgbClr val="FFFFFF"/>
          </a:solidFill>
          <a:ln/>
          <a:effectLst>
            <a:outerShdw sx="100000" sy="100000" kx="0" ky="0" algn="bl" rotWithShape="0" blurRad="76200" dist="38100" dir="5400000">
              <a:srgbClr val="1B1F3B">
                <a:alpha val="25000"/>
              </a:srgbClr>
            </a:outerShdw>
          </a:effectLst>
        </p:spPr>
      </p:sp>
      <p:sp>
        <p:nvSpPr>
          <p:cNvPr id="24" name="Text 22"/>
          <p:cNvSpPr/>
          <p:nvPr/>
        </p:nvSpPr>
        <p:spPr>
          <a:xfrm>
            <a:off x="5074920" y="1709928"/>
            <a:ext cx="2057400" cy="457200"/>
          </a:xfrm>
          <a:prstGeom prst="rect">
            <a:avLst/>
          </a:prstGeom>
          <a:noFill/>
          <a:ln/>
        </p:spPr>
        <p:txBody>
          <a:bodyPr wrap="square" lIns="0" tIns="0" rIns="0" bIns="0" rtlCol="0" anchor="t"/>
          <a:lstStyle/>
          <a:p>
            <a:pPr algn="l" indent="0" marL="0">
              <a:buNone/>
            </a:pPr>
            <a:r>
              <a:rPr lang="en-US" sz="1300" b="1" dirty="0">
                <a:solidFill>
                  <a:srgbClr val="1B1F3B"/>
                </a:solidFill>
                <a:latin typeface="Calibri" pitchFamily="34" charset="0"/>
                <a:ea typeface="Calibri" pitchFamily="34" charset="-122"/>
                <a:cs typeface="Calibri" pitchFamily="34" charset="-120"/>
              </a:rPr>
              <a:t>The Perceptron</a:t>
            </a:r>
            <a:endParaRPr lang="en-US" sz="1300" dirty="0"/>
          </a:p>
        </p:txBody>
      </p:sp>
      <p:sp>
        <p:nvSpPr>
          <p:cNvPr id="25" name="Text 23"/>
          <p:cNvSpPr/>
          <p:nvPr/>
        </p:nvSpPr>
        <p:spPr>
          <a:xfrm>
            <a:off x="5074920" y="2148840"/>
            <a:ext cx="2057400" cy="1033272"/>
          </a:xfrm>
          <a:prstGeom prst="rect">
            <a:avLst/>
          </a:prstGeom>
          <a:noFill/>
          <a:ln/>
        </p:spPr>
        <p:txBody>
          <a:bodyPr wrap="square" lIns="0" tIns="0" rIns="0" bIns="0" rtlCol="0" anchor="t"/>
          <a:lstStyle/>
          <a:p>
            <a:pPr algn="l" indent="0" marL="0">
              <a:lnSpc>
                <a:spcPct val="112000"/>
              </a:lnSpc>
              <a:buNone/>
            </a:pPr>
            <a:r>
              <a:rPr lang="en-US" sz="1050" dirty="0">
                <a:solidFill>
                  <a:srgbClr val="4A5568"/>
                </a:solidFill>
                <a:latin typeface="Calibri" pitchFamily="34" charset="0"/>
                <a:ea typeface="Calibri" pitchFamily="34" charset="-122"/>
                <a:cs typeface="Calibri" pitchFamily="34" charset="-120"/>
              </a:rPr>
              <a:t>Frank Rosenblatt builds an early trainable neural network, ancestor of today's deep learning models.</a:t>
            </a:r>
            <a:endParaRPr lang="en-US" sz="1050" dirty="0"/>
          </a:p>
        </p:txBody>
      </p:sp>
      <p:sp>
        <p:nvSpPr>
          <p:cNvPr id="26" name="Shape 24"/>
          <p:cNvSpPr/>
          <p:nvPr/>
        </p:nvSpPr>
        <p:spPr>
          <a:xfrm>
            <a:off x="8643366" y="4050792"/>
            <a:ext cx="18288" cy="457200"/>
          </a:xfrm>
          <a:prstGeom prst="rect">
            <a:avLst/>
          </a:prstGeom>
          <a:solidFill>
            <a:srgbClr val="12163B"/>
          </a:solidFill>
          <a:ln/>
        </p:spPr>
      </p:sp>
      <p:sp>
        <p:nvSpPr>
          <p:cNvPr id="27" name="Shape 25"/>
          <p:cNvSpPr/>
          <p:nvPr/>
        </p:nvSpPr>
        <p:spPr>
          <a:xfrm>
            <a:off x="8359902" y="3502152"/>
            <a:ext cx="585216" cy="585216"/>
          </a:xfrm>
          <a:prstGeom prst="ellipse">
            <a:avLst/>
          </a:prstGeom>
          <a:solidFill>
            <a:srgbClr val="12163B"/>
          </a:solidFill>
          <a:ln w="31750">
            <a:solidFill>
              <a:srgbClr val="FFFFFF"/>
            </a:solidFill>
            <a:prstDash val="solid"/>
          </a:ln>
          <a:effectLst>
            <a:outerShdw sx="100000" sy="100000" kx="0" ky="0" algn="bl" rotWithShape="0" blurRad="76200" dist="38100" dir="5400000">
              <a:srgbClr val="000000">
                <a:alpha val="25000"/>
              </a:srgbClr>
            </a:outerShdw>
          </a:effectLst>
        </p:spPr>
      </p:sp>
      <p:sp>
        <p:nvSpPr>
          <p:cNvPr id="28" name="Text 26"/>
          <p:cNvSpPr/>
          <p:nvPr/>
        </p:nvSpPr>
        <p:spPr>
          <a:xfrm>
            <a:off x="8359902" y="3502152"/>
            <a:ext cx="585216" cy="58521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1966</a:t>
            </a:r>
            <a:endParaRPr lang="en-US" sz="1150" dirty="0"/>
          </a:p>
        </p:txBody>
      </p:sp>
      <p:sp>
        <p:nvSpPr>
          <p:cNvPr id="29" name="Shape 27"/>
          <p:cNvSpPr/>
          <p:nvPr/>
        </p:nvSpPr>
        <p:spPr>
          <a:xfrm>
            <a:off x="7486650" y="4553712"/>
            <a:ext cx="2331720" cy="1691640"/>
          </a:xfrm>
          <a:prstGeom prst="roundRect">
            <a:avLst>
              <a:gd name="adj" fmla="val 4324"/>
            </a:avLst>
          </a:prstGeom>
          <a:solidFill>
            <a:srgbClr val="FFFFFF"/>
          </a:solidFill>
          <a:ln/>
          <a:effectLst>
            <a:outerShdw sx="100000" sy="100000" kx="0" ky="0" algn="bl" rotWithShape="0" blurRad="76200" dist="38100" dir="5400000">
              <a:srgbClr val="1B1F3B">
                <a:alpha val="25000"/>
              </a:srgbClr>
            </a:outerShdw>
          </a:effectLst>
        </p:spPr>
      </p:sp>
      <p:sp>
        <p:nvSpPr>
          <p:cNvPr id="30" name="Text 28"/>
          <p:cNvSpPr/>
          <p:nvPr/>
        </p:nvSpPr>
        <p:spPr>
          <a:xfrm>
            <a:off x="7623810" y="4663440"/>
            <a:ext cx="2057400" cy="457200"/>
          </a:xfrm>
          <a:prstGeom prst="rect">
            <a:avLst/>
          </a:prstGeom>
          <a:noFill/>
          <a:ln/>
        </p:spPr>
        <p:txBody>
          <a:bodyPr wrap="square" lIns="0" tIns="0" rIns="0" bIns="0" rtlCol="0" anchor="t"/>
          <a:lstStyle/>
          <a:p>
            <a:pPr algn="l" indent="0" marL="0">
              <a:buNone/>
            </a:pPr>
            <a:r>
              <a:rPr lang="en-US" sz="1300" b="1" dirty="0">
                <a:solidFill>
                  <a:srgbClr val="1B1F3B"/>
                </a:solidFill>
                <a:latin typeface="Calibri" pitchFamily="34" charset="0"/>
                <a:ea typeface="Calibri" pitchFamily="34" charset="-122"/>
                <a:cs typeface="Calibri" pitchFamily="34" charset="-120"/>
              </a:rPr>
              <a:t>ELIZA Chatbot</a:t>
            </a:r>
            <a:endParaRPr lang="en-US" sz="1300" dirty="0"/>
          </a:p>
        </p:txBody>
      </p:sp>
      <p:sp>
        <p:nvSpPr>
          <p:cNvPr id="31" name="Text 29"/>
          <p:cNvSpPr/>
          <p:nvPr/>
        </p:nvSpPr>
        <p:spPr>
          <a:xfrm>
            <a:off x="7623810" y="5102352"/>
            <a:ext cx="2057400" cy="1033272"/>
          </a:xfrm>
          <a:prstGeom prst="rect">
            <a:avLst/>
          </a:prstGeom>
          <a:noFill/>
          <a:ln/>
        </p:spPr>
        <p:txBody>
          <a:bodyPr wrap="square" lIns="0" tIns="0" rIns="0" bIns="0" rtlCol="0" anchor="t"/>
          <a:lstStyle/>
          <a:p>
            <a:pPr algn="l" indent="0" marL="0">
              <a:lnSpc>
                <a:spcPct val="112000"/>
              </a:lnSpc>
              <a:buNone/>
            </a:pPr>
            <a:r>
              <a:rPr lang="en-US" sz="1050" dirty="0">
                <a:solidFill>
                  <a:srgbClr val="4A5568"/>
                </a:solidFill>
                <a:latin typeface="Calibri" pitchFamily="34" charset="0"/>
                <a:ea typeface="Calibri" pitchFamily="34" charset="-122"/>
                <a:cs typeface="Calibri" pitchFamily="34" charset="-120"/>
              </a:rPr>
              <a:t>Joseph Weizenbaum's ELIZA mimics a therapist in text conversation, an early step in natural language AI.</a:t>
            </a:r>
            <a:endParaRPr lang="en-US" sz="1050" dirty="0"/>
          </a:p>
        </p:txBody>
      </p:sp>
      <p:sp>
        <p:nvSpPr>
          <p:cNvPr id="32" name="Shape 30"/>
          <p:cNvSpPr/>
          <p:nvPr/>
        </p:nvSpPr>
        <p:spPr>
          <a:xfrm>
            <a:off x="11192256" y="3337560"/>
            <a:ext cx="18288" cy="457200"/>
          </a:xfrm>
          <a:prstGeom prst="rect">
            <a:avLst/>
          </a:prstGeom>
          <a:solidFill>
            <a:srgbClr val="12163B"/>
          </a:solidFill>
          <a:ln/>
        </p:spPr>
      </p:sp>
      <p:sp>
        <p:nvSpPr>
          <p:cNvPr id="33" name="Shape 31"/>
          <p:cNvSpPr/>
          <p:nvPr/>
        </p:nvSpPr>
        <p:spPr>
          <a:xfrm>
            <a:off x="10908792" y="3502152"/>
            <a:ext cx="585216" cy="585216"/>
          </a:xfrm>
          <a:prstGeom prst="ellipse">
            <a:avLst/>
          </a:prstGeom>
          <a:solidFill>
            <a:srgbClr val="12163B"/>
          </a:solidFill>
          <a:ln w="31750">
            <a:solidFill>
              <a:srgbClr val="FFFFFF"/>
            </a:solidFill>
            <a:prstDash val="solid"/>
          </a:ln>
          <a:effectLst>
            <a:outerShdw sx="100000" sy="100000" kx="0" ky="0" algn="bl" rotWithShape="0" blurRad="76200" dist="38100" dir="5400000">
              <a:srgbClr val="000000">
                <a:alpha val="25000"/>
              </a:srgbClr>
            </a:outerShdw>
          </a:effectLst>
        </p:spPr>
      </p:sp>
      <p:sp>
        <p:nvSpPr>
          <p:cNvPr id="34" name="Text 32"/>
          <p:cNvSpPr/>
          <p:nvPr/>
        </p:nvSpPr>
        <p:spPr>
          <a:xfrm>
            <a:off x="10908792" y="3502152"/>
            <a:ext cx="585216" cy="58521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1973</a:t>
            </a:r>
            <a:endParaRPr lang="en-US" sz="1150" dirty="0"/>
          </a:p>
        </p:txBody>
      </p:sp>
      <p:sp>
        <p:nvSpPr>
          <p:cNvPr id="35" name="Shape 33"/>
          <p:cNvSpPr/>
          <p:nvPr/>
        </p:nvSpPr>
        <p:spPr>
          <a:xfrm>
            <a:off x="10660075" y="3328416"/>
            <a:ext cx="541325" cy="18288"/>
          </a:xfrm>
          <a:prstGeom prst="rect">
            <a:avLst/>
          </a:prstGeom>
          <a:solidFill>
            <a:srgbClr val="12163B"/>
          </a:solidFill>
          <a:ln/>
        </p:spPr>
      </p:sp>
      <p:sp>
        <p:nvSpPr>
          <p:cNvPr id="36" name="Shape 34"/>
          <p:cNvSpPr/>
          <p:nvPr/>
        </p:nvSpPr>
        <p:spPr>
          <a:xfrm>
            <a:off x="9494215" y="1600200"/>
            <a:ext cx="2331720" cy="1691640"/>
          </a:xfrm>
          <a:prstGeom prst="roundRect">
            <a:avLst>
              <a:gd name="adj" fmla="val 4324"/>
            </a:avLst>
          </a:prstGeom>
          <a:solidFill>
            <a:srgbClr val="FFFFFF"/>
          </a:solidFill>
          <a:ln/>
          <a:effectLst>
            <a:outerShdw sx="100000" sy="100000" kx="0" ky="0" algn="bl" rotWithShape="0" blurRad="76200" dist="38100" dir="5400000">
              <a:srgbClr val="1B1F3B">
                <a:alpha val="25000"/>
              </a:srgbClr>
            </a:outerShdw>
          </a:effectLst>
        </p:spPr>
      </p:sp>
      <p:sp>
        <p:nvSpPr>
          <p:cNvPr id="37" name="Text 35"/>
          <p:cNvSpPr/>
          <p:nvPr/>
        </p:nvSpPr>
        <p:spPr>
          <a:xfrm>
            <a:off x="9631375" y="1709928"/>
            <a:ext cx="2057400" cy="457200"/>
          </a:xfrm>
          <a:prstGeom prst="rect">
            <a:avLst/>
          </a:prstGeom>
          <a:noFill/>
          <a:ln/>
        </p:spPr>
        <p:txBody>
          <a:bodyPr wrap="square" lIns="0" tIns="0" rIns="0" bIns="0" rtlCol="0" anchor="t"/>
          <a:lstStyle/>
          <a:p>
            <a:pPr algn="l" indent="0" marL="0">
              <a:buNone/>
            </a:pPr>
            <a:r>
              <a:rPr lang="en-US" sz="1300" b="1" dirty="0">
                <a:solidFill>
                  <a:srgbClr val="1B1F3B"/>
                </a:solidFill>
                <a:latin typeface="Calibri" pitchFamily="34" charset="0"/>
                <a:ea typeface="Calibri" pitchFamily="34" charset="-122"/>
                <a:cs typeface="Calibri" pitchFamily="34" charset="-120"/>
              </a:rPr>
              <a:t>The Lighthill Report</a:t>
            </a:r>
            <a:endParaRPr lang="en-US" sz="1300" dirty="0"/>
          </a:p>
        </p:txBody>
      </p:sp>
      <p:sp>
        <p:nvSpPr>
          <p:cNvPr id="38" name="Text 36"/>
          <p:cNvSpPr/>
          <p:nvPr/>
        </p:nvSpPr>
        <p:spPr>
          <a:xfrm>
            <a:off x="9631375" y="2148840"/>
            <a:ext cx="2057400" cy="1033272"/>
          </a:xfrm>
          <a:prstGeom prst="rect">
            <a:avLst/>
          </a:prstGeom>
          <a:noFill/>
          <a:ln/>
        </p:spPr>
        <p:txBody>
          <a:bodyPr wrap="square" lIns="0" tIns="0" rIns="0" bIns="0" rtlCol="0" anchor="t"/>
          <a:lstStyle/>
          <a:p>
            <a:pPr algn="l" indent="0" marL="0">
              <a:lnSpc>
                <a:spcPct val="112000"/>
              </a:lnSpc>
              <a:buNone/>
            </a:pPr>
            <a:r>
              <a:rPr lang="en-US" sz="1050" dirty="0">
                <a:solidFill>
                  <a:srgbClr val="4A5568"/>
                </a:solidFill>
                <a:latin typeface="Calibri" pitchFamily="34" charset="0"/>
                <a:ea typeface="Calibri" pitchFamily="34" charset="-122"/>
                <a:cs typeface="Calibri" pitchFamily="34" charset="-120"/>
              </a:rPr>
              <a:t>A critical UK report concludes AI has overpromised, setting the stage for funding cuts.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48640" y="411480"/>
            <a:ext cx="8595360" cy="640080"/>
          </a:xfrm>
          <a:prstGeom prst="rect">
            <a:avLst/>
          </a:prstGeom>
          <a:noFill/>
          <a:ln/>
        </p:spPr>
        <p:txBody>
          <a:bodyPr wrap="square" lIns="0" tIns="0" rIns="0" bIns="0" rtlCol="0" anchor="ctr"/>
          <a:lstStyle/>
          <a:p>
            <a:pPr indent="0" marL="0">
              <a:buNone/>
            </a:pPr>
            <a:r>
              <a:rPr lang="en-US" sz="3200" b="1" dirty="0">
                <a:solidFill>
                  <a:srgbClr val="1B1F3B"/>
                </a:solidFill>
                <a:latin typeface="Cambria" pitchFamily="34" charset="0"/>
                <a:ea typeface="Cambria" pitchFamily="34" charset="-122"/>
                <a:cs typeface="Cambria" pitchFamily="34" charset="-120"/>
              </a:rPr>
              <a:t>The AI Winters</a:t>
            </a:r>
            <a:endParaRPr lang="en-US" sz="3200" dirty="0"/>
          </a:p>
        </p:txBody>
      </p:sp>
      <p:sp>
        <p:nvSpPr>
          <p:cNvPr id="3" name="Text 1"/>
          <p:cNvSpPr/>
          <p:nvPr/>
        </p:nvSpPr>
        <p:spPr>
          <a:xfrm>
            <a:off x="566928" y="960120"/>
            <a:ext cx="8595360" cy="365760"/>
          </a:xfrm>
          <a:prstGeom prst="rect">
            <a:avLst/>
          </a:prstGeom>
          <a:noFill/>
          <a:ln/>
        </p:spPr>
        <p:txBody>
          <a:bodyPr wrap="square" lIns="0" tIns="0" rIns="0" bIns="0" rtlCol="0" anchor="ctr"/>
          <a:lstStyle/>
          <a:p>
            <a:pPr indent="0" marL="0">
              <a:buNone/>
            </a:pPr>
            <a:r>
              <a:rPr lang="en-US" sz="1400" i="1" dirty="0">
                <a:solidFill>
                  <a:srgbClr val="4A5568"/>
                </a:solidFill>
                <a:latin typeface="Calibri" pitchFamily="34" charset="0"/>
                <a:ea typeface="Calibri" pitchFamily="34" charset="-122"/>
                <a:cs typeface="Calibri" pitchFamily="34" charset="-120"/>
              </a:rPr>
              <a:t>Era 2 — Twice, funding and faith in AI collapsed</a:t>
            </a:r>
            <a:endParaRPr lang="en-US" sz="1400" dirty="0"/>
          </a:p>
        </p:txBody>
      </p:sp>
      <p:sp>
        <p:nvSpPr>
          <p:cNvPr id="4" name="Shape 2"/>
          <p:cNvSpPr/>
          <p:nvPr/>
        </p:nvSpPr>
        <p:spPr>
          <a:xfrm>
            <a:off x="9646920" y="457200"/>
            <a:ext cx="2011680" cy="502920"/>
          </a:xfrm>
          <a:prstGeom prst="roundRect">
            <a:avLst>
              <a:gd name="adj" fmla="val 50909"/>
            </a:avLst>
          </a:prstGeom>
          <a:solidFill>
            <a:srgbClr val="7C8DB5"/>
          </a:solidFill>
          <a:ln/>
        </p:spPr>
      </p:sp>
      <p:sp>
        <p:nvSpPr>
          <p:cNvPr id="5" name="Text 3"/>
          <p:cNvSpPr/>
          <p:nvPr/>
        </p:nvSpPr>
        <p:spPr>
          <a:xfrm>
            <a:off x="9646920" y="457200"/>
            <a:ext cx="201168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1974 – 1993</a:t>
            </a:r>
            <a:endParaRPr lang="en-US" sz="1500" dirty="0"/>
          </a:p>
        </p:txBody>
      </p:sp>
      <p:sp>
        <p:nvSpPr>
          <p:cNvPr id="6" name="Shape 4"/>
          <p:cNvSpPr/>
          <p:nvPr/>
        </p:nvSpPr>
        <p:spPr>
          <a:xfrm>
            <a:off x="548640" y="1600200"/>
            <a:ext cx="5074920" cy="3200400"/>
          </a:xfrm>
          <a:prstGeom prst="roundRect">
            <a:avLst>
              <a:gd name="adj" fmla="val 2857"/>
            </a:avLst>
          </a:prstGeom>
          <a:solidFill>
            <a:srgbClr val="FFFFFF"/>
          </a:solidFill>
          <a:ln/>
          <a:effectLst>
            <a:outerShdw sx="100000" sy="100000" kx="0" ky="0" algn="bl" rotWithShape="0" blurRad="76200" dist="38100" dir="5400000">
              <a:srgbClr val="1B1F3B">
                <a:alpha val="25000"/>
              </a:srgbClr>
            </a:outerShdw>
          </a:effectLst>
        </p:spPr>
      </p:sp>
      <p:sp>
        <p:nvSpPr>
          <p:cNvPr id="7" name="Shape 5"/>
          <p:cNvSpPr/>
          <p:nvPr/>
        </p:nvSpPr>
        <p:spPr>
          <a:xfrm>
            <a:off x="822960" y="1874520"/>
            <a:ext cx="457200" cy="457200"/>
          </a:xfrm>
          <a:prstGeom prst="ellipse">
            <a:avLst/>
          </a:prstGeom>
          <a:solidFill>
            <a:srgbClr val="7C8DB5"/>
          </a:solidFill>
          <a:ln/>
        </p:spPr>
      </p:sp>
      <p:sp>
        <p:nvSpPr>
          <p:cNvPr id="8" name="Text 6"/>
          <p:cNvSpPr/>
          <p:nvPr/>
        </p:nvSpPr>
        <p:spPr>
          <a:xfrm>
            <a:off x="822960" y="1874520"/>
            <a:ext cx="457200" cy="457200"/>
          </a:xfrm>
          <a:prstGeom prst="rect">
            <a:avLst/>
          </a:prstGeom>
          <a:noFill/>
          <a:ln/>
        </p:spPr>
        <p:txBody>
          <a:bodyPr wrap="square" lIns="0" tIns="0" rIns="0" bIns="0" rtlCol="0" anchor="ctr"/>
          <a:lstStyle/>
          <a:p>
            <a:pPr algn="ctr" indent="0" marL="0">
              <a:buNone/>
            </a:pPr>
            <a:r>
              <a:rPr lang="en-US" sz="1800" dirty="0">
                <a:solidFill>
                  <a:srgbClr val="FFFFFF"/>
                </a:solidFill>
              </a:rPr>
              <a:t>❄</a:t>
            </a:r>
            <a:endParaRPr lang="en-US" sz="1800" dirty="0"/>
          </a:p>
        </p:txBody>
      </p:sp>
      <p:sp>
        <p:nvSpPr>
          <p:cNvPr id="9" name="Text 7"/>
          <p:cNvSpPr/>
          <p:nvPr/>
        </p:nvSpPr>
        <p:spPr>
          <a:xfrm>
            <a:off x="1417320" y="1874520"/>
            <a:ext cx="3977640" cy="457200"/>
          </a:xfrm>
          <a:prstGeom prst="rect">
            <a:avLst/>
          </a:prstGeom>
          <a:noFill/>
          <a:ln/>
        </p:spPr>
        <p:txBody>
          <a:bodyPr wrap="square" lIns="0" tIns="0" rIns="0" bIns="0" rtlCol="0" anchor="ctr"/>
          <a:lstStyle/>
          <a:p>
            <a:pPr indent="0" marL="0">
              <a:buNone/>
            </a:pPr>
            <a:r>
              <a:rPr lang="en-US" sz="1600" b="1" dirty="0">
                <a:solidFill>
                  <a:srgbClr val="1B1F3B"/>
                </a:solidFill>
                <a:latin typeface="Calibri" pitchFamily="34" charset="0"/>
                <a:ea typeface="Calibri" pitchFamily="34" charset="-122"/>
                <a:cs typeface="Calibri" pitchFamily="34" charset="-120"/>
              </a:rPr>
              <a:t>First AI Winter (1974–1980)</a:t>
            </a:r>
            <a:endParaRPr lang="en-US" sz="1600" dirty="0"/>
          </a:p>
        </p:txBody>
      </p:sp>
      <p:sp>
        <p:nvSpPr>
          <p:cNvPr id="10" name="Text 8"/>
          <p:cNvSpPr/>
          <p:nvPr/>
        </p:nvSpPr>
        <p:spPr>
          <a:xfrm>
            <a:off x="868680" y="2514600"/>
            <a:ext cx="4434840" cy="274320"/>
          </a:xfrm>
          <a:prstGeom prst="rect">
            <a:avLst/>
          </a:prstGeom>
          <a:noFill/>
          <a:ln/>
        </p:spPr>
        <p:txBody>
          <a:bodyPr wrap="square" lIns="0" tIns="0" rIns="0" bIns="0" rtlCol="0" anchor="ctr"/>
          <a:lstStyle/>
          <a:p>
            <a:pPr indent="0" marL="0">
              <a:buNone/>
            </a:pPr>
            <a:r>
              <a:rPr lang="en-US" sz="1100" b="1" spc="100" kern="0" dirty="0">
                <a:solidFill>
                  <a:srgbClr val="7C8DB5"/>
                </a:solidFill>
                <a:latin typeface="Calibri" pitchFamily="34" charset="0"/>
                <a:ea typeface="Calibri" pitchFamily="34" charset="-122"/>
                <a:cs typeface="Calibri" pitchFamily="34" charset="-120"/>
              </a:rPr>
              <a:t>CAUSE</a:t>
            </a:r>
            <a:endParaRPr lang="en-US" sz="1100" dirty="0"/>
          </a:p>
        </p:txBody>
      </p:sp>
      <p:sp>
        <p:nvSpPr>
          <p:cNvPr id="11" name="Text 9"/>
          <p:cNvSpPr/>
          <p:nvPr/>
        </p:nvSpPr>
        <p:spPr>
          <a:xfrm>
            <a:off x="868680" y="2807208"/>
            <a:ext cx="4434840" cy="914400"/>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Calibri" pitchFamily="34" charset="0"/>
                <a:ea typeface="Calibri" pitchFamily="34" charset="-122"/>
                <a:cs typeface="Calibri" pitchFamily="34" charset="-120"/>
              </a:rPr>
              <a:t>The 1973 Lighthill Report told the UK government that AI had failed to deliver on its grand promises. Unmet military goals then led DARPA to pull funding for general AI research in 1974.</a:t>
            </a:r>
            <a:endParaRPr lang="en-US" sz="1200" dirty="0"/>
          </a:p>
        </p:txBody>
      </p:sp>
      <p:sp>
        <p:nvSpPr>
          <p:cNvPr id="12" name="Text 10"/>
          <p:cNvSpPr/>
          <p:nvPr/>
        </p:nvSpPr>
        <p:spPr>
          <a:xfrm>
            <a:off x="868680" y="3749040"/>
            <a:ext cx="4434840" cy="274320"/>
          </a:xfrm>
          <a:prstGeom prst="rect">
            <a:avLst/>
          </a:prstGeom>
          <a:noFill/>
          <a:ln/>
        </p:spPr>
        <p:txBody>
          <a:bodyPr wrap="square" lIns="0" tIns="0" rIns="0" bIns="0" rtlCol="0" anchor="ctr"/>
          <a:lstStyle/>
          <a:p>
            <a:pPr indent="0" marL="0">
              <a:buNone/>
            </a:pPr>
            <a:r>
              <a:rPr lang="en-US" sz="1100" b="1" spc="100" kern="0" dirty="0">
                <a:solidFill>
                  <a:srgbClr val="7C8DB5"/>
                </a:solidFill>
                <a:latin typeface="Calibri" pitchFamily="34" charset="0"/>
                <a:ea typeface="Calibri" pitchFamily="34" charset="-122"/>
                <a:cs typeface="Calibri" pitchFamily="34" charset="-120"/>
              </a:rPr>
              <a:t>IMPACT</a:t>
            </a:r>
            <a:endParaRPr lang="en-US" sz="1100" dirty="0"/>
          </a:p>
        </p:txBody>
      </p:sp>
      <p:sp>
        <p:nvSpPr>
          <p:cNvPr id="13" name="Text 11"/>
          <p:cNvSpPr/>
          <p:nvPr/>
        </p:nvSpPr>
        <p:spPr>
          <a:xfrm>
            <a:off x="868680" y="4041648"/>
            <a:ext cx="4434840" cy="685800"/>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Calibri" pitchFamily="34" charset="0"/>
                <a:ea typeface="Calibri" pitchFamily="34" charset="-122"/>
                <a:cs typeface="Calibri" pitchFamily="34" charset="-120"/>
              </a:rPr>
              <a:t>University labs lost funding, researchers left the field, and “AI” became a term some scientists avoided using.</a:t>
            </a:r>
            <a:endParaRPr lang="en-US" sz="1200" dirty="0"/>
          </a:p>
        </p:txBody>
      </p:sp>
      <p:sp>
        <p:nvSpPr>
          <p:cNvPr id="14" name="Shape 12"/>
          <p:cNvSpPr/>
          <p:nvPr/>
        </p:nvSpPr>
        <p:spPr>
          <a:xfrm>
            <a:off x="6400800" y="1600200"/>
            <a:ext cx="5074920" cy="3200400"/>
          </a:xfrm>
          <a:prstGeom prst="roundRect">
            <a:avLst>
              <a:gd name="adj" fmla="val 2857"/>
            </a:avLst>
          </a:prstGeom>
          <a:solidFill>
            <a:srgbClr val="FFFFFF"/>
          </a:solidFill>
          <a:ln/>
          <a:effectLst>
            <a:outerShdw sx="100000" sy="100000" kx="0" ky="0" algn="bl" rotWithShape="0" blurRad="76200" dist="38100" dir="5400000">
              <a:srgbClr val="1B1F3B">
                <a:alpha val="25000"/>
              </a:srgbClr>
            </a:outerShdw>
          </a:effectLst>
        </p:spPr>
      </p:sp>
      <p:sp>
        <p:nvSpPr>
          <p:cNvPr id="15" name="Shape 13"/>
          <p:cNvSpPr/>
          <p:nvPr/>
        </p:nvSpPr>
        <p:spPr>
          <a:xfrm>
            <a:off x="6675120" y="1874520"/>
            <a:ext cx="457200" cy="457200"/>
          </a:xfrm>
          <a:prstGeom prst="ellipse">
            <a:avLst/>
          </a:prstGeom>
          <a:solidFill>
            <a:srgbClr val="7C8DB5"/>
          </a:solidFill>
          <a:ln/>
        </p:spPr>
      </p:sp>
      <p:sp>
        <p:nvSpPr>
          <p:cNvPr id="16" name="Text 14"/>
          <p:cNvSpPr/>
          <p:nvPr/>
        </p:nvSpPr>
        <p:spPr>
          <a:xfrm>
            <a:off x="6675120" y="1874520"/>
            <a:ext cx="457200" cy="457200"/>
          </a:xfrm>
          <a:prstGeom prst="rect">
            <a:avLst/>
          </a:prstGeom>
          <a:noFill/>
          <a:ln/>
        </p:spPr>
        <p:txBody>
          <a:bodyPr wrap="square" lIns="0" tIns="0" rIns="0" bIns="0" rtlCol="0" anchor="ctr"/>
          <a:lstStyle/>
          <a:p>
            <a:pPr algn="ctr" indent="0" marL="0">
              <a:buNone/>
            </a:pPr>
            <a:r>
              <a:rPr lang="en-US" sz="1800" dirty="0">
                <a:solidFill>
                  <a:srgbClr val="FFFFFF"/>
                </a:solidFill>
              </a:rPr>
              <a:t>❄</a:t>
            </a:r>
            <a:endParaRPr lang="en-US" sz="1800" dirty="0"/>
          </a:p>
        </p:txBody>
      </p:sp>
      <p:sp>
        <p:nvSpPr>
          <p:cNvPr id="17" name="Text 15"/>
          <p:cNvSpPr/>
          <p:nvPr/>
        </p:nvSpPr>
        <p:spPr>
          <a:xfrm>
            <a:off x="7269480" y="1874520"/>
            <a:ext cx="3977640" cy="457200"/>
          </a:xfrm>
          <a:prstGeom prst="rect">
            <a:avLst/>
          </a:prstGeom>
          <a:noFill/>
          <a:ln/>
        </p:spPr>
        <p:txBody>
          <a:bodyPr wrap="square" lIns="0" tIns="0" rIns="0" bIns="0" rtlCol="0" anchor="ctr"/>
          <a:lstStyle/>
          <a:p>
            <a:pPr indent="0" marL="0">
              <a:buNone/>
            </a:pPr>
            <a:r>
              <a:rPr lang="en-US" sz="1600" b="1" dirty="0">
                <a:solidFill>
                  <a:srgbClr val="1B1F3B"/>
                </a:solidFill>
                <a:latin typeface="Calibri" pitchFamily="34" charset="0"/>
                <a:ea typeface="Calibri" pitchFamily="34" charset="-122"/>
                <a:cs typeface="Calibri" pitchFamily="34" charset="-120"/>
              </a:rPr>
              <a:t>Second AI Winter (1987–1993)</a:t>
            </a:r>
            <a:endParaRPr lang="en-US" sz="1600" dirty="0"/>
          </a:p>
        </p:txBody>
      </p:sp>
      <p:sp>
        <p:nvSpPr>
          <p:cNvPr id="18" name="Text 16"/>
          <p:cNvSpPr/>
          <p:nvPr/>
        </p:nvSpPr>
        <p:spPr>
          <a:xfrm>
            <a:off x="6720840" y="2514600"/>
            <a:ext cx="4434840" cy="274320"/>
          </a:xfrm>
          <a:prstGeom prst="rect">
            <a:avLst/>
          </a:prstGeom>
          <a:noFill/>
          <a:ln/>
        </p:spPr>
        <p:txBody>
          <a:bodyPr wrap="square" lIns="0" tIns="0" rIns="0" bIns="0" rtlCol="0" anchor="ctr"/>
          <a:lstStyle/>
          <a:p>
            <a:pPr indent="0" marL="0">
              <a:buNone/>
            </a:pPr>
            <a:r>
              <a:rPr lang="en-US" sz="1100" b="1" spc="100" kern="0" dirty="0">
                <a:solidFill>
                  <a:srgbClr val="7C8DB5"/>
                </a:solidFill>
                <a:latin typeface="Calibri" pitchFamily="34" charset="0"/>
                <a:ea typeface="Calibri" pitchFamily="34" charset="-122"/>
                <a:cs typeface="Calibri" pitchFamily="34" charset="-120"/>
              </a:rPr>
              <a:t>CAUSE</a:t>
            </a:r>
            <a:endParaRPr lang="en-US" sz="1100" dirty="0"/>
          </a:p>
        </p:txBody>
      </p:sp>
      <p:sp>
        <p:nvSpPr>
          <p:cNvPr id="19" name="Text 17"/>
          <p:cNvSpPr/>
          <p:nvPr/>
        </p:nvSpPr>
        <p:spPr>
          <a:xfrm>
            <a:off x="6720840" y="2807208"/>
            <a:ext cx="4434840" cy="914400"/>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Calibri" pitchFamily="34" charset="0"/>
                <a:ea typeface="Calibri" pitchFamily="34" charset="-122"/>
                <a:cs typeface="Calibri" pitchFamily="34" charset="-120"/>
              </a:rPr>
              <a:t>The market for expensive, specialized “AI workstations” collapsed almost overnight once regular computers caught up. DARPA's Strategic Computing Initiative called its AI results disappointing in 1991.</a:t>
            </a:r>
            <a:endParaRPr lang="en-US" sz="1200" dirty="0"/>
          </a:p>
        </p:txBody>
      </p:sp>
      <p:sp>
        <p:nvSpPr>
          <p:cNvPr id="20" name="Text 18"/>
          <p:cNvSpPr/>
          <p:nvPr/>
        </p:nvSpPr>
        <p:spPr>
          <a:xfrm>
            <a:off x="6720840" y="3749040"/>
            <a:ext cx="4434840" cy="274320"/>
          </a:xfrm>
          <a:prstGeom prst="rect">
            <a:avLst/>
          </a:prstGeom>
          <a:noFill/>
          <a:ln/>
        </p:spPr>
        <p:txBody>
          <a:bodyPr wrap="square" lIns="0" tIns="0" rIns="0" bIns="0" rtlCol="0" anchor="ctr"/>
          <a:lstStyle/>
          <a:p>
            <a:pPr indent="0" marL="0">
              <a:buNone/>
            </a:pPr>
            <a:r>
              <a:rPr lang="en-US" sz="1100" b="1" spc="100" kern="0" dirty="0">
                <a:solidFill>
                  <a:srgbClr val="7C8DB5"/>
                </a:solidFill>
                <a:latin typeface="Calibri" pitchFamily="34" charset="0"/>
                <a:ea typeface="Calibri" pitchFamily="34" charset="-122"/>
                <a:cs typeface="Calibri" pitchFamily="34" charset="-120"/>
              </a:rPr>
              <a:t>IMPACT</a:t>
            </a:r>
            <a:endParaRPr lang="en-US" sz="1100" dirty="0"/>
          </a:p>
        </p:txBody>
      </p:sp>
      <p:sp>
        <p:nvSpPr>
          <p:cNvPr id="21" name="Text 19"/>
          <p:cNvSpPr/>
          <p:nvPr/>
        </p:nvSpPr>
        <p:spPr>
          <a:xfrm>
            <a:off x="6720840" y="4041648"/>
            <a:ext cx="4434840" cy="685800"/>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Calibri" pitchFamily="34" charset="0"/>
                <a:ea typeface="Calibri" pitchFamily="34" charset="-122"/>
                <a:cs typeface="Calibri" pitchFamily="34" charset="-120"/>
              </a:rPr>
              <a:t>A second wave of funding cuts and lab closures followed, delaying AI progress for nearly a decade.</a:t>
            </a:r>
            <a:endParaRPr lang="en-US" sz="1200" dirty="0"/>
          </a:p>
        </p:txBody>
      </p:sp>
      <p:sp>
        <p:nvSpPr>
          <p:cNvPr id="22" name="Shape 20"/>
          <p:cNvSpPr/>
          <p:nvPr/>
        </p:nvSpPr>
        <p:spPr>
          <a:xfrm>
            <a:off x="548640" y="5029200"/>
            <a:ext cx="10972800" cy="777240"/>
          </a:xfrm>
          <a:prstGeom prst="roundRect">
            <a:avLst>
              <a:gd name="adj" fmla="val 11765"/>
            </a:avLst>
          </a:prstGeom>
          <a:solidFill>
            <a:srgbClr val="12163B"/>
          </a:solidFill>
          <a:ln/>
        </p:spPr>
      </p:sp>
      <p:sp>
        <p:nvSpPr>
          <p:cNvPr id="23" name="Text 21"/>
          <p:cNvSpPr/>
          <p:nvPr/>
        </p:nvSpPr>
        <p:spPr>
          <a:xfrm>
            <a:off x="822960" y="5029200"/>
            <a:ext cx="10424160" cy="777240"/>
          </a:xfrm>
          <a:prstGeom prst="rect">
            <a:avLst/>
          </a:prstGeom>
          <a:noFill/>
          <a:ln/>
        </p:spPr>
        <p:txBody>
          <a:bodyPr wrap="square" lIns="0" tIns="0" rIns="0" bIns="0" rtlCol="0" anchor="ctr"/>
          <a:lstStyle/>
          <a:p>
            <a:pPr indent="0" marL="0">
              <a:lnSpc>
                <a:spcPct val="110000"/>
              </a:lnSpc>
              <a:buNone/>
            </a:pPr>
            <a:r>
              <a:rPr lang="en-US" sz="1250" b="1" dirty="0">
                <a:solidFill>
                  <a:srgbClr val="F2B705"/>
                </a:solidFill>
                <a:latin typeface="Calibri" pitchFamily="34" charset="0"/>
                <a:ea typeface="Calibri" pitchFamily="34" charset="-122"/>
                <a:cs typeface="Calibri" pitchFamily="34" charset="-120"/>
              </a:rPr>
              <a:t>Between the winters (1980–1987): </a:t>
            </a:r>
            <a:pPr indent="0" marL="0">
              <a:lnSpc>
                <a:spcPct val="110000"/>
              </a:lnSpc>
              <a:buNone/>
            </a:pPr>
            <a:r>
              <a:rPr lang="en-US" sz="1250" dirty="0">
                <a:solidFill>
                  <a:srgbClr val="FFFFFF"/>
                </a:solidFill>
                <a:latin typeface="Calibri" pitchFamily="34" charset="0"/>
                <a:ea typeface="Calibri" pitchFamily="34" charset="-122"/>
                <a:cs typeface="Calibri" pitchFamily="34" charset="-120"/>
              </a:rPr>
              <a:t>commercial “expert systems” briefly revived funding and optimism, before the market for their specialized hardware collapsed and triggered the second winter.</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48640" y="411480"/>
            <a:ext cx="8595360" cy="640080"/>
          </a:xfrm>
          <a:prstGeom prst="rect">
            <a:avLst/>
          </a:prstGeom>
          <a:noFill/>
          <a:ln/>
        </p:spPr>
        <p:txBody>
          <a:bodyPr wrap="square" lIns="0" tIns="0" rIns="0" bIns="0" rtlCol="0" anchor="ctr"/>
          <a:lstStyle/>
          <a:p>
            <a:pPr indent="0" marL="0">
              <a:buNone/>
            </a:pPr>
            <a:r>
              <a:rPr lang="en-US" sz="3200" b="1" dirty="0">
                <a:solidFill>
                  <a:srgbClr val="1B1F3B"/>
                </a:solidFill>
                <a:latin typeface="Cambria" pitchFamily="34" charset="0"/>
                <a:ea typeface="Cambria" pitchFamily="34" charset="-122"/>
                <a:cs typeface="Cambria" pitchFamily="34" charset="-120"/>
              </a:rPr>
              <a:t>Practical AI Emerges</a:t>
            </a:r>
            <a:endParaRPr lang="en-US" sz="3200" dirty="0"/>
          </a:p>
        </p:txBody>
      </p:sp>
      <p:sp>
        <p:nvSpPr>
          <p:cNvPr id="3" name="Text 1"/>
          <p:cNvSpPr/>
          <p:nvPr/>
        </p:nvSpPr>
        <p:spPr>
          <a:xfrm>
            <a:off x="566928" y="960120"/>
            <a:ext cx="8595360" cy="365760"/>
          </a:xfrm>
          <a:prstGeom prst="rect">
            <a:avLst/>
          </a:prstGeom>
          <a:noFill/>
          <a:ln/>
        </p:spPr>
        <p:txBody>
          <a:bodyPr wrap="square" lIns="0" tIns="0" rIns="0" bIns="0" rtlCol="0" anchor="ctr"/>
          <a:lstStyle/>
          <a:p>
            <a:pPr indent="0" marL="0">
              <a:buNone/>
            </a:pPr>
            <a:r>
              <a:rPr lang="en-US" sz="1400" i="1" dirty="0">
                <a:solidFill>
                  <a:srgbClr val="4A5568"/>
                </a:solidFill>
                <a:latin typeface="Calibri" pitchFamily="34" charset="0"/>
                <a:ea typeface="Calibri" pitchFamily="34" charset="-122"/>
                <a:cs typeface="Calibri" pitchFamily="34" charset="-120"/>
              </a:rPr>
              <a:t>Era 3 — AI proves itself in the real world</a:t>
            </a:r>
            <a:endParaRPr lang="en-US" sz="1400" dirty="0"/>
          </a:p>
        </p:txBody>
      </p:sp>
      <p:sp>
        <p:nvSpPr>
          <p:cNvPr id="4" name="Shape 2"/>
          <p:cNvSpPr/>
          <p:nvPr/>
        </p:nvSpPr>
        <p:spPr>
          <a:xfrm>
            <a:off x="9646920" y="457200"/>
            <a:ext cx="2011680" cy="502920"/>
          </a:xfrm>
          <a:prstGeom prst="roundRect">
            <a:avLst>
              <a:gd name="adj" fmla="val 50909"/>
            </a:avLst>
          </a:prstGeom>
          <a:solidFill>
            <a:srgbClr val="F2B705"/>
          </a:solidFill>
          <a:ln/>
        </p:spPr>
      </p:sp>
      <p:sp>
        <p:nvSpPr>
          <p:cNvPr id="5" name="Text 3"/>
          <p:cNvSpPr/>
          <p:nvPr/>
        </p:nvSpPr>
        <p:spPr>
          <a:xfrm>
            <a:off x="9646920" y="457200"/>
            <a:ext cx="2011680" cy="502920"/>
          </a:xfrm>
          <a:prstGeom prst="rect">
            <a:avLst/>
          </a:prstGeom>
          <a:noFill/>
          <a:ln/>
        </p:spPr>
        <p:txBody>
          <a:bodyPr wrap="square" lIns="0" tIns="0" rIns="0" bIns="0" rtlCol="0" anchor="ctr"/>
          <a:lstStyle/>
          <a:p>
            <a:pPr algn="ctr" indent="0" marL="0">
              <a:buNone/>
            </a:pPr>
            <a:r>
              <a:rPr lang="en-US" sz="1500" b="1" dirty="0">
                <a:solidFill>
                  <a:srgbClr val="1B1F3B"/>
                </a:solidFill>
                <a:latin typeface="Calibri" pitchFamily="34" charset="0"/>
                <a:ea typeface="Calibri" pitchFamily="34" charset="-122"/>
                <a:cs typeface="Calibri" pitchFamily="34" charset="-120"/>
              </a:rPr>
              <a:t>1997 – 2011</a:t>
            </a:r>
            <a:endParaRPr lang="en-US" sz="1500" dirty="0"/>
          </a:p>
        </p:txBody>
      </p:sp>
      <p:sp>
        <p:nvSpPr>
          <p:cNvPr id="6" name="Shape 4"/>
          <p:cNvSpPr/>
          <p:nvPr/>
        </p:nvSpPr>
        <p:spPr>
          <a:xfrm>
            <a:off x="1005840" y="3781044"/>
            <a:ext cx="10195560" cy="27432"/>
          </a:xfrm>
          <a:prstGeom prst="rect">
            <a:avLst/>
          </a:prstGeom>
          <a:solidFill>
            <a:srgbClr val="F2B705"/>
          </a:solidFill>
          <a:ln/>
        </p:spPr>
      </p:sp>
      <p:sp>
        <p:nvSpPr>
          <p:cNvPr id="7" name="Shape 5"/>
          <p:cNvSpPr/>
          <p:nvPr/>
        </p:nvSpPr>
        <p:spPr>
          <a:xfrm>
            <a:off x="996696" y="3337560"/>
            <a:ext cx="18288" cy="457200"/>
          </a:xfrm>
          <a:prstGeom prst="rect">
            <a:avLst/>
          </a:prstGeom>
          <a:solidFill>
            <a:srgbClr val="F2B705"/>
          </a:solidFill>
          <a:ln/>
        </p:spPr>
      </p:sp>
      <p:sp>
        <p:nvSpPr>
          <p:cNvPr id="8" name="Shape 6"/>
          <p:cNvSpPr/>
          <p:nvPr/>
        </p:nvSpPr>
        <p:spPr>
          <a:xfrm>
            <a:off x="713232" y="3502152"/>
            <a:ext cx="585216" cy="585216"/>
          </a:xfrm>
          <a:prstGeom prst="ellipse">
            <a:avLst/>
          </a:prstGeom>
          <a:solidFill>
            <a:srgbClr val="F2B705"/>
          </a:solidFill>
          <a:ln w="31750">
            <a:solidFill>
              <a:srgbClr val="FFFFFF"/>
            </a:solidFill>
            <a:prstDash val="solid"/>
          </a:ln>
          <a:effectLst>
            <a:outerShdw sx="100000" sy="100000" kx="0" ky="0" algn="bl" rotWithShape="0" blurRad="76200" dist="38100" dir="5400000">
              <a:srgbClr val="000000">
                <a:alpha val="25000"/>
              </a:srgbClr>
            </a:outerShdw>
          </a:effectLst>
        </p:spPr>
      </p:sp>
      <p:sp>
        <p:nvSpPr>
          <p:cNvPr id="9" name="Text 7"/>
          <p:cNvSpPr/>
          <p:nvPr/>
        </p:nvSpPr>
        <p:spPr>
          <a:xfrm>
            <a:off x="713232" y="3502152"/>
            <a:ext cx="585216" cy="585216"/>
          </a:xfrm>
          <a:prstGeom prst="rect">
            <a:avLst/>
          </a:prstGeom>
          <a:noFill/>
          <a:ln/>
        </p:spPr>
        <p:txBody>
          <a:bodyPr wrap="square" lIns="0" tIns="0" rIns="0" bIns="0" rtlCol="0" anchor="ctr"/>
          <a:lstStyle/>
          <a:p>
            <a:pPr algn="ctr" indent="0" marL="0">
              <a:buNone/>
            </a:pPr>
            <a:r>
              <a:rPr lang="en-US" sz="1150" b="1" dirty="0">
                <a:solidFill>
                  <a:srgbClr val="1B1F3B"/>
                </a:solidFill>
                <a:latin typeface="Calibri" pitchFamily="34" charset="0"/>
                <a:ea typeface="Calibri" pitchFamily="34" charset="-122"/>
                <a:cs typeface="Calibri" pitchFamily="34" charset="-120"/>
              </a:rPr>
              <a:t>1997</a:t>
            </a:r>
            <a:endParaRPr lang="en-US" sz="1150" dirty="0"/>
          </a:p>
        </p:txBody>
      </p:sp>
      <p:sp>
        <p:nvSpPr>
          <p:cNvPr id="10" name="Shape 8"/>
          <p:cNvSpPr/>
          <p:nvPr/>
        </p:nvSpPr>
        <p:spPr>
          <a:xfrm>
            <a:off x="1005840" y="3328416"/>
            <a:ext cx="525780" cy="18288"/>
          </a:xfrm>
          <a:prstGeom prst="rect">
            <a:avLst/>
          </a:prstGeom>
          <a:solidFill>
            <a:srgbClr val="F2B705"/>
          </a:solidFill>
          <a:ln/>
        </p:spPr>
      </p:sp>
      <p:sp>
        <p:nvSpPr>
          <p:cNvPr id="11" name="Shape 9"/>
          <p:cNvSpPr/>
          <p:nvPr/>
        </p:nvSpPr>
        <p:spPr>
          <a:xfrm>
            <a:off x="365760" y="1600200"/>
            <a:ext cx="2331720" cy="1691640"/>
          </a:xfrm>
          <a:prstGeom prst="roundRect">
            <a:avLst>
              <a:gd name="adj" fmla="val 4324"/>
            </a:avLst>
          </a:prstGeom>
          <a:solidFill>
            <a:srgbClr val="FFFFFF"/>
          </a:solidFill>
          <a:ln/>
          <a:effectLst>
            <a:outerShdw sx="100000" sy="100000" kx="0" ky="0" algn="bl" rotWithShape="0" blurRad="76200" dist="38100" dir="5400000">
              <a:srgbClr val="1B1F3B">
                <a:alpha val="25000"/>
              </a:srgbClr>
            </a:outerShdw>
          </a:effectLst>
        </p:spPr>
      </p:sp>
      <p:sp>
        <p:nvSpPr>
          <p:cNvPr id="12" name="Text 10"/>
          <p:cNvSpPr/>
          <p:nvPr/>
        </p:nvSpPr>
        <p:spPr>
          <a:xfrm>
            <a:off x="502920" y="1709928"/>
            <a:ext cx="2057400" cy="457200"/>
          </a:xfrm>
          <a:prstGeom prst="rect">
            <a:avLst/>
          </a:prstGeom>
          <a:noFill/>
          <a:ln/>
        </p:spPr>
        <p:txBody>
          <a:bodyPr wrap="square" lIns="0" tIns="0" rIns="0" bIns="0" rtlCol="0" anchor="t"/>
          <a:lstStyle/>
          <a:p>
            <a:pPr algn="l" indent="0" marL="0">
              <a:buNone/>
            </a:pPr>
            <a:r>
              <a:rPr lang="en-US" sz="1300" b="1" dirty="0">
                <a:solidFill>
                  <a:srgbClr val="1B1F3B"/>
                </a:solidFill>
                <a:latin typeface="Calibri" pitchFamily="34" charset="0"/>
                <a:ea typeface="Calibri" pitchFamily="34" charset="-122"/>
                <a:cs typeface="Calibri" pitchFamily="34" charset="-120"/>
              </a:rPr>
              <a:t>Deep Blue Beats Kasparov</a:t>
            </a:r>
            <a:endParaRPr lang="en-US" sz="1300" dirty="0"/>
          </a:p>
        </p:txBody>
      </p:sp>
      <p:sp>
        <p:nvSpPr>
          <p:cNvPr id="13" name="Text 11"/>
          <p:cNvSpPr/>
          <p:nvPr/>
        </p:nvSpPr>
        <p:spPr>
          <a:xfrm>
            <a:off x="502920" y="2148840"/>
            <a:ext cx="2057400" cy="1033272"/>
          </a:xfrm>
          <a:prstGeom prst="rect">
            <a:avLst/>
          </a:prstGeom>
          <a:noFill/>
          <a:ln/>
        </p:spPr>
        <p:txBody>
          <a:bodyPr wrap="square" lIns="0" tIns="0" rIns="0" bIns="0" rtlCol="0" anchor="t"/>
          <a:lstStyle/>
          <a:p>
            <a:pPr algn="l" indent="0" marL="0">
              <a:lnSpc>
                <a:spcPct val="112000"/>
              </a:lnSpc>
              <a:buNone/>
            </a:pPr>
            <a:r>
              <a:rPr lang="en-US" sz="1050" dirty="0">
                <a:solidFill>
                  <a:srgbClr val="4A5568"/>
                </a:solidFill>
                <a:latin typeface="Calibri" pitchFamily="34" charset="0"/>
                <a:ea typeface="Calibri" pitchFamily="34" charset="-122"/>
                <a:cs typeface="Calibri" pitchFamily="34" charset="-120"/>
              </a:rPr>
              <a:t>IBM's Deep Blue defeats world chess champion Garry Kasparov, AI's first mainstream “wow” moment.</a:t>
            </a:r>
            <a:endParaRPr lang="en-US" sz="1050" dirty="0"/>
          </a:p>
        </p:txBody>
      </p:sp>
      <p:sp>
        <p:nvSpPr>
          <p:cNvPr id="14" name="Shape 12"/>
          <p:cNvSpPr/>
          <p:nvPr/>
        </p:nvSpPr>
        <p:spPr>
          <a:xfrm>
            <a:off x="4395216" y="4050792"/>
            <a:ext cx="18288" cy="457200"/>
          </a:xfrm>
          <a:prstGeom prst="rect">
            <a:avLst/>
          </a:prstGeom>
          <a:solidFill>
            <a:srgbClr val="F2B705"/>
          </a:solidFill>
          <a:ln/>
        </p:spPr>
      </p:sp>
      <p:sp>
        <p:nvSpPr>
          <p:cNvPr id="15" name="Shape 13"/>
          <p:cNvSpPr/>
          <p:nvPr/>
        </p:nvSpPr>
        <p:spPr>
          <a:xfrm>
            <a:off x="4111752" y="3502152"/>
            <a:ext cx="585216" cy="585216"/>
          </a:xfrm>
          <a:prstGeom prst="ellipse">
            <a:avLst/>
          </a:prstGeom>
          <a:solidFill>
            <a:srgbClr val="F2B705"/>
          </a:solidFill>
          <a:ln w="31750">
            <a:solidFill>
              <a:srgbClr val="FFFFFF"/>
            </a:solidFill>
            <a:prstDash val="solid"/>
          </a:ln>
          <a:effectLst>
            <a:outerShdw sx="100000" sy="100000" kx="0" ky="0" algn="bl" rotWithShape="0" blurRad="76200" dist="38100" dir="5400000">
              <a:srgbClr val="000000">
                <a:alpha val="25000"/>
              </a:srgbClr>
            </a:outerShdw>
          </a:effectLst>
        </p:spPr>
      </p:sp>
      <p:sp>
        <p:nvSpPr>
          <p:cNvPr id="16" name="Text 14"/>
          <p:cNvSpPr/>
          <p:nvPr/>
        </p:nvSpPr>
        <p:spPr>
          <a:xfrm>
            <a:off x="4111752" y="3502152"/>
            <a:ext cx="585216" cy="585216"/>
          </a:xfrm>
          <a:prstGeom prst="rect">
            <a:avLst/>
          </a:prstGeom>
          <a:noFill/>
          <a:ln/>
        </p:spPr>
        <p:txBody>
          <a:bodyPr wrap="square" lIns="0" tIns="0" rIns="0" bIns="0" rtlCol="0" anchor="ctr"/>
          <a:lstStyle/>
          <a:p>
            <a:pPr algn="ctr" indent="0" marL="0">
              <a:buNone/>
            </a:pPr>
            <a:r>
              <a:rPr lang="en-US" sz="1150" b="1" dirty="0">
                <a:solidFill>
                  <a:srgbClr val="1B1F3B"/>
                </a:solidFill>
                <a:latin typeface="Calibri" pitchFamily="34" charset="0"/>
                <a:ea typeface="Calibri" pitchFamily="34" charset="-122"/>
                <a:cs typeface="Calibri" pitchFamily="34" charset="-120"/>
              </a:rPr>
              <a:t>2006</a:t>
            </a:r>
            <a:endParaRPr lang="en-US" sz="1150" dirty="0"/>
          </a:p>
        </p:txBody>
      </p:sp>
      <p:sp>
        <p:nvSpPr>
          <p:cNvPr id="17" name="Shape 15"/>
          <p:cNvSpPr/>
          <p:nvPr/>
        </p:nvSpPr>
        <p:spPr>
          <a:xfrm>
            <a:off x="3238500" y="4553712"/>
            <a:ext cx="2331720" cy="1691640"/>
          </a:xfrm>
          <a:prstGeom prst="roundRect">
            <a:avLst>
              <a:gd name="adj" fmla="val 4324"/>
            </a:avLst>
          </a:prstGeom>
          <a:solidFill>
            <a:srgbClr val="FFFFFF"/>
          </a:solidFill>
          <a:ln/>
          <a:effectLst>
            <a:outerShdw sx="100000" sy="100000" kx="0" ky="0" algn="bl" rotWithShape="0" blurRad="76200" dist="38100" dir="5400000">
              <a:srgbClr val="1B1F3B">
                <a:alpha val="25000"/>
              </a:srgbClr>
            </a:outerShdw>
          </a:effectLst>
        </p:spPr>
      </p:sp>
      <p:sp>
        <p:nvSpPr>
          <p:cNvPr id="18" name="Text 16"/>
          <p:cNvSpPr/>
          <p:nvPr/>
        </p:nvSpPr>
        <p:spPr>
          <a:xfrm>
            <a:off x="3375660" y="4663440"/>
            <a:ext cx="2057400" cy="457200"/>
          </a:xfrm>
          <a:prstGeom prst="rect">
            <a:avLst/>
          </a:prstGeom>
          <a:noFill/>
          <a:ln/>
        </p:spPr>
        <p:txBody>
          <a:bodyPr wrap="square" lIns="0" tIns="0" rIns="0" bIns="0" rtlCol="0" anchor="t"/>
          <a:lstStyle/>
          <a:p>
            <a:pPr algn="l" indent="0" marL="0">
              <a:buNone/>
            </a:pPr>
            <a:r>
              <a:rPr lang="en-US" sz="1300" b="1" dirty="0">
                <a:solidFill>
                  <a:srgbClr val="1B1F3B"/>
                </a:solidFill>
                <a:latin typeface="Calibri" pitchFamily="34" charset="0"/>
                <a:ea typeface="Calibri" pitchFamily="34" charset="-122"/>
                <a:cs typeface="Calibri" pitchFamily="34" charset="-120"/>
              </a:rPr>
              <a:t>“Deep Learning” Named</a:t>
            </a:r>
            <a:endParaRPr lang="en-US" sz="1300" dirty="0"/>
          </a:p>
        </p:txBody>
      </p:sp>
      <p:sp>
        <p:nvSpPr>
          <p:cNvPr id="19" name="Text 17"/>
          <p:cNvSpPr/>
          <p:nvPr/>
        </p:nvSpPr>
        <p:spPr>
          <a:xfrm>
            <a:off x="3375660" y="5102352"/>
            <a:ext cx="2057400" cy="1033272"/>
          </a:xfrm>
          <a:prstGeom prst="rect">
            <a:avLst/>
          </a:prstGeom>
          <a:noFill/>
          <a:ln/>
        </p:spPr>
        <p:txBody>
          <a:bodyPr wrap="square" lIns="0" tIns="0" rIns="0" bIns="0" rtlCol="0" anchor="t"/>
          <a:lstStyle/>
          <a:p>
            <a:pPr algn="l" indent="0" marL="0">
              <a:lnSpc>
                <a:spcPct val="112000"/>
              </a:lnSpc>
              <a:buNone/>
            </a:pPr>
            <a:r>
              <a:rPr lang="en-US" sz="1050" dirty="0">
                <a:solidFill>
                  <a:srgbClr val="4A5568"/>
                </a:solidFill>
                <a:latin typeface="Calibri" pitchFamily="34" charset="0"/>
                <a:ea typeface="Calibri" pitchFamily="34" charset="-122"/>
                <a:cs typeface="Calibri" pitchFamily="34" charset="-120"/>
              </a:rPr>
              <a:t>Geoffrey Hinton and colleagues popularize the term, reviving academic interest in neural networks.</a:t>
            </a:r>
            <a:endParaRPr lang="en-US" sz="1050" dirty="0"/>
          </a:p>
        </p:txBody>
      </p:sp>
      <p:sp>
        <p:nvSpPr>
          <p:cNvPr id="20" name="Shape 18"/>
          <p:cNvSpPr/>
          <p:nvPr/>
        </p:nvSpPr>
        <p:spPr>
          <a:xfrm>
            <a:off x="7793736" y="3337560"/>
            <a:ext cx="18288" cy="457200"/>
          </a:xfrm>
          <a:prstGeom prst="rect">
            <a:avLst/>
          </a:prstGeom>
          <a:solidFill>
            <a:srgbClr val="F2B705"/>
          </a:solidFill>
          <a:ln/>
        </p:spPr>
      </p:sp>
      <p:sp>
        <p:nvSpPr>
          <p:cNvPr id="21" name="Shape 19"/>
          <p:cNvSpPr/>
          <p:nvPr/>
        </p:nvSpPr>
        <p:spPr>
          <a:xfrm>
            <a:off x="7510272" y="3502152"/>
            <a:ext cx="585216" cy="585216"/>
          </a:xfrm>
          <a:prstGeom prst="ellipse">
            <a:avLst/>
          </a:prstGeom>
          <a:solidFill>
            <a:srgbClr val="F2B705"/>
          </a:solidFill>
          <a:ln w="31750">
            <a:solidFill>
              <a:srgbClr val="FFFFFF"/>
            </a:solidFill>
            <a:prstDash val="solid"/>
          </a:ln>
          <a:effectLst>
            <a:outerShdw sx="100000" sy="100000" kx="0" ky="0" algn="bl" rotWithShape="0" blurRad="76200" dist="38100" dir="5400000">
              <a:srgbClr val="000000">
                <a:alpha val="25000"/>
              </a:srgbClr>
            </a:outerShdw>
          </a:effectLst>
        </p:spPr>
      </p:sp>
      <p:sp>
        <p:nvSpPr>
          <p:cNvPr id="22" name="Text 20"/>
          <p:cNvSpPr/>
          <p:nvPr/>
        </p:nvSpPr>
        <p:spPr>
          <a:xfrm>
            <a:off x="7510272" y="3502152"/>
            <a:ext cx="585216" cy="585216"/>
          </a:xfrm>
          <a:prstGeom prst="rect">
            <a:avLst/>
          </a:prstGeom>
          <a:noFill/>
          <a:ln/>
        </p:spPr>
        <p:txBody>
          <a:bodyPr wrap="square" lIns="0" tIns="0" rIns="0" bIns="0" rtlCol="0" anchor="ctr"/>
          <a:lstStyle/>
          <a:p>
            <a:pPr algn="ctr" indent="0" marL="0">
              <a:buNone/>
            </a:pPr>
            <a:r>
              <a:rPr lang="en-US" sz="1150" b="1" dirty="0">
                <a:solidFill>
                  <a:srgbClr val="1B1F3B"/>
                </a:solidFill>
                <a:latin typeface="Calibri" pitchFamily="34" charset="0"/>
                <a:ea typeface="Calibri" pitchFamily="34" charset="-122"/>
                <a:cs typeface="Calibri" pitchFamily="34" charset="-120"/>
              </a:rPr>
              <a:t>2009</a:t>
            </a:r>
            <a:endParaRPr lang="en-US" sz="1150" dirty="0"/>
          </a:p>
        </p:txBody>
      </p:sp>
      <p:sp>
        <p:nvSpPr>
          <p:cNvPr id="23" name="Shape 21"/>
          <p:cNvSpPr/>
          <p:nvPr/>
        </p:nvSpPr>
        <p:spPr>
          <a:xfrm>
            <a:off x="6637020" y="1600200"/>
            <a:ext cx="2331720" cy="1691640"/>
          </a:xfrm>
          <a:prstGeom prst="roundRect">
            <a:avLst>
              <a:gd name="adj" fmla="val 4324"/>
            </a:avLst>
          </a:prstGeom>
          <a:solidFill>
            <a:srgbClr val="FFFFFF"/>
          </a:solidFill>
          <a:ln/>
          <a:effectLst>
            <a:outerShdw sx="100000" sy="100000" kx="0" ky="0" algn="bl" rotWithShape="0" blurRad="76200" dist="38100" dir="5400000">
              <a:srgbClr val="1B1F3B">
                <a:alpha val="25000"/>
              </a:srgbClr>
            </a:outerShdw>
          </a:effectLst>
        </p:spPr>
      </p:sp>
      <p:sp>
        <p:nvSpPr>
          <p:cNvPr id="24" name="Text 22"/>
          <p:cNvSpPr/>
          <p:nvPr/>
        </p:nvSpPr>
        <p:spPr>
          <a:xfrm>
            <a:off x="6774180" y="1709928"/>
            <a:ext cx="2057400" cy="457200"/>
          </a:xfrm>
          <a:prstGeom prst="rect">
            <a:avLst/>
          </a:prstGeom>
          <a:noFill/>
          <a:ln/>
        </p:spPr>
        <p:txBody>
          <a:bodyPr wrap="square" lIns="0" tIns="0" rIns="0" bIns="0" rtlCol="0" anchor="t"/>
          <a:lstStyle/>
          <a:p>
            <a:pPr algn="l" indent="0" marL="0">
              <a:buNone/>
            </a:pPr>
            <a:r>
              <a:rPr lang="en-US" sz="1300" b="1" dirty="0">
                <a:solidFill>
                  <a:srgbClr val="1B1F3B"/>
                </a:solidFill>
                <a:latin typeface="Calibri" pitchFamily="34" charset="0"/>
                <a:ea typeface="Calibri" pitchFamily="34" charset="-122"/>
                <a:cs typeface="Calibri" pitchFamily="34" charset="-120"/>
              </a:rPr>
              <a:t>ImageNet Launches</a:t>
            </a:r>
            <a:endParaRPr lang="en-US" sz="1300" dirty="0"/>
          </a:p>
        </p:txBody>
      </p:sp>
      <p:sp>
        <p:nvSpPr>
          <p:cNvPr id="25" name="Text 23"/>
          <p:cNvSpPr/>
          <p:nvPr/>
        </p:nvSpPr>
        <p:spPr>
          <a:xfrm>
            <a:off x="6774180" y="2148840"/>
            <a:ext cx="2057400" cy="1033272"/>
          </a:xfrm>
          <a:prstGeom prst="rect">
            <a:avLst/>
          </a:prstGeom>
          <a:noFill/>
          <a:ln/>
        </p:spPr>
        <p:txBody>
          <a:bodyPr wrap="square" lIns="0" tIns="0" rIns="0" bIns="0" rtlCol="0" anchor="t"/>
          <a:lstStyle/>
          <a:p>
            <a:pPr algn="l" indent="0" marL="0">
              <a:lnSpc>
                <a:spcPct val="112000"/>
              </a:lnSpc>
              <a:buNone/>
            </a:pPr>
            <a:r>
              <a:rPr lang="en-US" sz="1050" dirty="0">
                <a:solidFill>
                  <a:srgbClr val="4A5568"/>
                </a:solidFill>
                <a:latin typeface="Calibri" pitchFamily="34" charset="0"/>
                <a:ea typeface="Calibri" pitchFamily="34" charset="-122"/>
                <a:cs typeface="Calibri" pitchFamily="34" charset="-120"/>
              </a:rPr>
              <a:t>Fei-Fei Li's team builds a massive labeled image dataset that will fuel the coming deep learning boom.</a:t>
            </a:r>
            <a:endParaRPr lang="en-US" sz="1050" dirty="0"/>
          </a:p>
        </p:txBody>
      </p:sp>
      <p:sp>
        <p:nvSpPr>
          <p:cNvPr id="26" name="Shape 24"/>
          <p:cNvSpPr/>
          <p:nvPr/>
        </p:nvSpPr>
        <p:spPr>
          <a:xfrm>
            <a:off x="11192256" y="4050792"/>
            <a:ext cx="18288" cy="457200"/>
          </a:xfrm>
          <a:prstGeom prst="rect">
            <a:avLst/>
          </a:prstGeom>
          <a:solidFill>
            <a:srgbClr val="F2B705"/>
          </a:solidFill>
          <a:ln/>
        </p:spPr>
      </p:sp>
      <p:sp>
        <p:nvSpPr>
          <p:cNvPr id="27" name="Shape 25"/>
          <p:cNvSpPr/>
          <p:nvPr/>
        </p:nvSpPr>
        <p:spPr>
          <a:xfrm>
            <a:off x="10908792" y="3502152"/>
            <a:ext cx="585216" cy="585216"/>
          </a:xfrm>
          <a:prstGeom prst="ellipse">
            <a:avLst/>
          </a:prstGeom>
          <a:solidFill>
            <a:srgbClr val="F2B705"/>
          </a:solidFill>
          <a:ln w="31750">
            <a:solidFill>
              <a:srgbClr val="FFFFFF"/>
            </a:solidFill>
            <a:prstDash val="solid"/>
          </a:ln>
          <a:effectLst>
            <a:outerShdw sx="100000" sy="100000" kx="0" ky="0" algn="bl" rotWithShape="0" blurRad="76200" dist="38100" dir="5400000">
              <a:srgbClr val="000000">
                <a:alpha val="25000"/>
              </a:srgbClr>
            </a:outerShdw>
          </a:effectLst>
        </p:spPr>
      </p:sp>
      <p:sp>
        <p:nvSpPr>
          <p:cNvPr id="28" name="Text 26"/>
          <p:cNvSpPr/>
          <p:nvPr/>
        </p:nvSpPr>
        <p:spPr>
          <a:xfrm>
            <a:off x="10908792" y="3502152"/>
            <a:ext cx="585216" cy="585216"/>
          </a:xfrm>
          <a:prstGeom prst="rect">
            <a:avLst/>
          </a:prstGeom>
          <a:noFill/>
          <a:ln/>
        </p:spPr>
        <p:txBody>
          <a:bodyPr wrap="square" lIns="0" tIns="0" rIns="0" bIns="0" rtlCol="0" anchor="ctr"/>
          <a:lstStyle/>
          <a:p>
            <a:pPr algn="ctr" indent="0" marL="0">
              <a:buNone/>
            </a:pPr>
            <a:r>
              <a:rPr lang="en-US" sz="1150" b="1" dirty="0">
                <a:solidFill>
                  <a:srgbClr val="1B1F3B"/>
                </a:solidFill>
                <a:latin typeface="Calibri" pitchFamily="34" charset="0"/>
                <a:ea typeface="Calibri" pitchFamily="34" charset="-122"/>
                <a:cs typeface="Calibri" pitchFamily="34" charset="-120"/>
              </a:rPr>
              <a:t>2011</a:t>
            </a:r>
            <a:endParaRPr lang="en-US" sz="1150" dirty="0"/>
          </a:p>
        </p:txBody>
      </p:sp>
      <p:sp>
        <p:nvSpPr>
          <p:cNvPr id="29" name="Shape 27"/>
          <p:cNvSpPr/>
          <p:nvPr/>
        </p:nvSpPr>
        <p:spPr>
          <a:xfrm>
            <a:off x="10660075" y="4498848"/>
            <a:ext cx="541325" cy="18288"/>
          </a:xfrm>
          <a:prstGeom prst="rect">
            <a:avLst/>
          </a:prstGeom>
          <a:solidFill>
            <a:srgbClr val="F2B705"/>
          </a:solidFill>
          <a:ln/>
        </p:spPr>
      </p:sp>
      <p:sp>
        <p:nvSpPr>
          <p:cNvPr id="30" name="Shape 28"/>
          <p:cNvSpPr/>
          <p:nvPr/>
        </p:nvSpPr>
        <p:spPr>
          <a:xfrm>
            <a:off x="9494215" y="4553712"/>
            <a:ext cx="2331720" cy="1691640"/>
          </a:xfrm>
          <a:prstGeom prst="roundRect">
            <a:avLst>
              <a:gd name="adj" fmla="val 4324"/>
            </a:avLst>
          </a:prstGeom>
          <a:solidFill>
            <a:srgbClr val="FFFFFF"/>
          </a:solidFill>
          <a:ln/>
          <a:effectLst>
            <a:outerShdw sx="100000" sy="100000" kx="0" ky="0" algn="bl" rotWithShape="0" blurRad="76200" dist="38100" dir="5400000">
              <a:srgbClr val="1B1F3B">
                <a:alpha val="25000"/>
              </a:srgbClr>
            </a:outerShdw>
          </a:effectLst>
        </p:spPr>
      </p:sp>
      <p:sp>
        <p:nvSpPr>
          <p:cNvPr id="31" name="Text 29"/>
          <p:cNvSpPr/>
          <p:nvPr/>
        </p:nvSpPr>
        <p:spPr>
          <a:xfrm>
            <a:off x="9631375" y="4663440"/>
            <a:ext cx="2057400" cy="457200"/>
          </a:xfrm>
          <a:prstGeom prst="rect">
            <a:avLst/>
          </a:prstGeom>
          <a:noFill/>
          <a:ln/>
        </p:spPr>
        <p:txBody>
          <a:bodyPr wrap="square" lIns="0" tIns="0" rIns="0" bIns="0" rtlCol="0" anchor="t"/>
          <a:lstStyle/>
          <a:p>
            <a:pPr algn="l" indent="0" marL="0">
              <a:buNone/>
            </a:pPr>
            <a:r>
              <a:rPr lang="en-US" sz="1300" b="1" dirty="0">
                <a:solidFill>
                  <a:srgbClr val="1B1F3B"/>
                </a:solidFill>
                <a:latin typeface="Calibri" pitchFamily="34" charset="0"/>
                <a:ea typeface="Calibri" pitchFamily="34" charset="-122"/>
                <a:cs typeface="Calibri" pitchFamily="34" charset="-120"/>
              </a:rPr>
              <a:t>IBM Watson Wins Jeopardy!</a:t>
            </a:r>
            <a:endParaRPr lang="en-US" sz="1300" dirty="0"/>
          </a:p>
        </p:txBody>
      </p:sp>
      <p:sp>
        <p:nvSpPr>
          <p:cNvPr id="32" name="Text 30"/>
          <p:cNvSpPr/>
          <p:nvPr/>
        </p:nvSpPr>
        <p:spPr>
          <a:xfrm>
            <a:off x="9631375" y="5102352"/>
            <a:ext cx="2057400" cy="1033272"/>
          </a:xfrm>
          <a:prstGeom prst="rect">
            <a:avLst/>
          </a:prstGeom>
          <a:noFill/>
          <a:ln/>
        </p:spPr>
        <p:txBody>
          <a:bodyPr wrap="square" lIns="0" tIns="0" rIns="0" bIns="0" rtlCol="0" anchor="t"/>
          <a:lstStyle/>
          <a:p>
            <a:pPr algn="l" indent="0" marL="0">
              <a:lnSpc>
                <a:spcPct val="112000"/>
              </a:lnSpc>
              <a:buNone/>
            </a:pPr>
            <a:r>
              <a:rPr lang="en-US" sz="1050" dirty="0">
                <a:solidFill>
                  <a:srgbClr val="4A5568"/>
                </a:solidFill>
                <a:latin typeface="Calibri" pitchFamily="34" charset="0"/>
                <a:ea typeface="Calibri" pitchFamily="34" charset="-122"/>
                <a:cs typeface="Calibri" pitchFamily="34" charset="-120"/>
              </a:rPr>
              <a:t>Watson defeats human champions, demonstrating advanced natural language understanding at scale.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48640" y="411480"/>
            <a:ext cx="8595360" cy="640080"/>
          </a:xfrm>
          <a:prstGeom prst="rect">
            <a:avLst/>
          </a:prstGeom>
          <a:noFill/>
          <a:ln/>
        </p:spPr>
        <p:txBody>
          <a:bodyPr wrap="square" lIns="0" tIns="0" rIns="0" bIns="0" rtlCol="0" anchor="ctr"/>
          <a:lstStyle/>
          <a:p>
            <a:pPr indent="0" marL="0">
              <a:buNone/>
            </a:pPr>
            <a:r>
              <a:rPr lang="en-US" sz="3200" b="1" dirty="0">
                <a:solidFill>
                  <a:srgbClr val="1B1F3B"/>
                </a:solidFill>
                <a:latin typeface="Cambria" pitchFamily="34" charset="0"/>
                <a:ea typeface="Cambria" pitchFamily="34" charset="-122"/>
                <a:cs typeface="Cambria" pitchFamily="34" charset="-120"/>
              </a:rPr>
              <a:t>The Deep Learning Revolution</a:t>
            </a:r>
            <a:endParaRPr lang="en-US" sz="3200" dirty="0"/>
          </a:p>
        </p:txBody>
      </p:sp>
      <p:sp>
        <p:nvSpPr>
          <p:cNvPr id="3" name="Text 1"/>
          <p:cNvSpPr/>
          <p:nvPr/>
        </p:nvSpPr>
        <p:spPr>
          <a:xfrm>
            <a:off x="566928" y="960120"/>
            <a:ext cx="8595360" cy="365760"/>
          </a:xfrm>
          <a:prstGeom prst="rect">
            <a:avLst/>
          </a:prstGeom>
          <a:noFill/>
          <a:ln/>
        </p:spPr>
        <p:txBody>
          <a:bodyPr wrap="square" lIns="0" tIns="0" rIns="0" bIns="0" rtlCol="0" anchor="ctr"/>
          <a:lstStyle/>
          <a:p>
            <a:pPr indent="0" marL="0">
              <a:buNone/>
            </a:pPr>
            <a:r>
              <a:rPr lang="en-US" sz="1400" i="1" dirty="0">
                <a:solidFill>
                  <a:srgbClr val="4A5568"/>
                </a:solidFill>
                <a:latin typeface="Calibri" pitchFamily="34" charset="0"/>
                <a:ea typeface="Calibri" pitchFamily="34" charset="-122"/>
                <a:cs typeface="Calibri" pitchFamily="34" charset="-120"/>
              </a:rPr>
              <a:t>Era 4 — Hardware finally catches up with theory</a:t>
            </a:r>
            <a:endParaRPr lang="en-US" sz="1400" dirty="0"/>
          </a:p>
        </p:txBody>
      </p:sp>
      <p:sp>
        <p:nvSpPr>
          <p:cNvPr id="4" name="Shape 2"/>
          <p:cNvSpPr/>
          <p:nvPr/>
        </p:nvSpPr>
        <p:spPr>
          <a:xfrm>
            <a:off x="9646920" y="457200"/>
            <a:ext cx="2011680" cy="502920"/>
          </a:xfrm>
          <a:prstGeom prst="roundRect">
            <a:avLst>
              <a:gd name="adj" fmla="val 50909"/>
            </a:avLst>
          </a:prstGeom>
          <a:solidFill>
            <a:srgbClr val="F2B705"/>
          </a:solidFill>
          <a:ln/>
        </p:spPr>
      </p:sp>
      <p:sp>
        <p:nvSpPr>
          <p:cNvPr id="5" name="Text 3"/>
          <p:cNvSpPr/>
          <p:nvPr/>
        </p:nvSpPr>
        <p:spPr>
          <a:xfrm>
            <a:off x="9646920" y="457200"/>
            <a:ext cx="2011680" cy="502920"/>
          </a:xfrm>
          <a:prstGeom prst="rect">
            <a:avLst/>
          </a:prstGeom>
          <a:noFill/>
          <a:ln/>
        </p:spPr>
        <p:txBody>
          <a:bodyPr wrap="square" lIns="0" tIns="0" rIns="0" bIns="0" rtlCol="0" anchor="ctr"/>
          <a:lstStyle/>
          <a:p>
            <a:pPr algn="ctr" indent="0" marL="0">
              <a:buNone/>
            </a:pPr>
            <a:r>
              <a:rPr lang="en-US" sz="1500" b="1" dirty="0">
                <a:solidFill>
                  <a:srgbClr val="1B1F3B"/>
                </a:solidFill>
                <a:latin typeface="Calibri" pitchFamily="34" charset="0"/>
                <a:ea typeface="Calibri" pitchFamily="34" charset="-122"/>
                <a:cs typeface="Calibri" pitchFamily="34" charset="-120"/>
              </a:rPr>
              <a:t>2012 – 2017</a:t>
            </a:r>
            <a:endParaRPr lang="en-US" sz="1500" dirty="0"/>
          </a:p>
        </p:txBody>
      </p:sp>
      <p:sp>
        <p:nvSpPr>
          <p:cNvPr id="6" name="Shape 4"/>
          <p:cNvSpPr/>
          <p:nvPr/>
        </p:nvSpPr>
        <p:spPr>
          <a:xfrm>
            <a:off x="1005840" y="3781044"/>
            <a:ext cx="10195560" cy="27432"/>
          </a:xfrm>
          <a:prstGeom prst="rect">
            <a:avLst/>
          </a:prstGeom>
          <a:solidFill>
            <a:srgbClr val="F2B705"/>
          </a:solidFill>
          <a:ln/>
        </p:spPr>
      </p:sp>
      <p:sp>
        <p:nvSpPr>
          <p:cNvPr id="7" name="Shape 5"/>
          <p:cNvSpPr/>
          <p:nvPr/>
        </p:nvSpPr>
        <p:spPr>
          <a:xfrm>
            <a:off x="996696" y="3337560"/>
            <a:ext cx="18288" cy="457200"/>
          </a:xfrm>
          <a:prstGeom prst="rect">
            <a:avLst/>
          </a:prstGeom>
          <a:solidFill>
            <a:srgbClr val="F2B705"/>
          </a:solidFill>
          <a:ln/>
        </p:spPr>
      </p:sp>
      <p:sp>
        <p:nvSpPr>
          <p:cNvPr id="8" name="Shape 6"/>
          <p:cNvSpPr/>
          <p:nvPr/>
        </p:nvSpPr>
        <p:spPr>
          <a:xfrm>
            <a:off x="713232" y="3502152"/>
            <a:ext cx="585216" cy="585216"/>
          </a:xfrm>
          <a:prstGeom prst="ellipse">
            <a:avLst/>
          </a:prstGeom>
          <a:solidFill>
            <a:srgbClr val="F2B705"/>
          </a:solidFill>
          <a:ln w="31750">
            <a:solidFill>
              <a:srgbClr val="FFFFFF"/>
            </a:solidFill>
            <a:prstDash val="solid"/>
          </a:ln>
          <a:effectLst>
            <a:outerShdw sx="100000" sy="100000" kx="0" ky="0" algn="bl" rotWithShape="0" blurRad="76200" dist="38100" dir="5400000">
              <a:srgbClr val="000000">
                <a:alpha val="25000"/>
              </a:srgbClr>
            </a:outerShdw>
          </a:effectLst>
        </p:spPr>
      </p:sp>
      <p:sp>
        <p:nvSpPr>
          <p:cNvPr id="9" name="Text 7"/>
          <p:cNvSpPr/>
          <p:nvPr/>
        </p:nvSpPr>
        <p:spPr>
          <a:xfrm>
            <a:off x="713232" y="3502152"/>
            <a:ext cx="585216" cy="585216"/>
          </a:xfrm>
          <a:prstGeom prst="rect">
            <a:avLst/>
          </a:prstGeom>
          <a:noFill/>
          <a:ln/>
        </p:spPr>
        <p:txBody>
          <a:bodyPr wrap="square" lIns="0" tIns="0" rIns="0" bIns="0" rtlCol="0" anchor="ctr"/>
          <a:lstStyle/>
          <a:p>
            <a:pPr algn="ctr" indent="0" marL="0">
              <a:buNone/>
            </a:pPr>
            <a:r>
              <a:rPr lang="en-US" sz="1150" b="1" dirty="0">
                <a:solidFill>
                  <a:srgbClr val="1B1F3B"/>
                </a:solidFill>
                <a:latin typeface="Calibri" pitchFamily="34" charset="0"/>
                <a:ea typeface="Calibri" pitchFamily="34" charset="-122"/>
                <a:cs typeface="Calibri" pitchFamily="34" charset="-120"/>
              </a:rPr>
              <a:t>2012</a:t>
            </a:r>
            <a:endParaRPr lang="en-US" sz="1150" dirty="0"/>
          </a:p>
        </p:txBody>
      </p:sp>
      <p:sp>
        <p:nvSpPr>
          <p:cNvPr id="10" name="Shape 8"/>
          <p:cNvSpPr/>
          <p:nvPr/>
        </p:nvSpPr>
        <p:spPr>
          <a:xfrm>
            <a:off x="1005840" y="3328416"/>
            <a:ext cx="525780" cy="18288"/>
          </a:xfrm>
          <a:prstGeom prst="rect">
            <a:avLst/>
          </a:prstGeom>
          <a:solidFill>
            <a:srgbClr val="F2B705"/>
          </a:solidFill>
          <a:ln/>
        </p:spPr>
      </p:sp>
      <p:sp>
        <p:nvSpPr>
          <p:cNvPr id="11" name="Shape 9"/>
          <p:cNvSpPr/>
          <p:nvPr/>
        </p:nvSpPr>
        <p:spPr>
          <a:xfrm>
            <a:off x="365760" y="1600200"/>
            <a:ext cx="2331720" cy="1691640"/>
          </a:xfrm>
          <a:prstGeom prst="roundRect">
            <a:avLst>
              <a:gd name="adj" fmla="val 4324"/>
            </a:avLst>
          </a:prstGeom>
          <a:solidFill>
            <a:srgbClr val="FFFFFF"/>
          </a:solidFill>
          <a:ln/>
          <a:effectLst>
            <a:outerShdw sx="100000" sy="100000" kx="0" ky="0" algn="bl" rotWithShape="0" blurRad="76200" dist="38100" dir="5400000">
              <a:srgbClr val="1B1F3B">
                <a:alpha val="25000"/>
              </a:srgbClr>
            </a:outerShdw>
          </a:effectLst>
        </p:spPr>
      </p:sp>
      <p:sp>
        <p:nvSpPr>
          <p:cNvPr id="12" name="Text 10"/>
          <p:cNvSpPr/>
          <p:nvPr/>
        </p:nvSpPr>
        <p:spPr>
          <a:xfrm>
            <a:off x="502920" y="1709928"/>
            <a:ext cx="2057400" cy="457200"/>
          </a:xfrm>
          <a:prstGeom prst="rect">
            <a:avLst/>
          </a:prstGeom>
          <a:noFill/>
          <a:ln/>
        </p:spPr>
        <p:txBody>
          <a:bodyPr wrap="square" lIns="0" tIns="0" rIns="0" bIns="0" rtlCol="0" anchor="t"/>
          <a:lstStyle/>
          <a:p>
            <a:pPr algn="l" indent="0" marL="0">
              <a:buNone/>
            </a:pPr>
            <a:r>
              <a:rPr lang="en-US" sz="1300" b="1" dirty="0">
                <a:solidFill>
                  <a:srgbClr val="1B1F3B"/>
                </a:solidFill>
                <a:latin typeface="Calibri" pitchFamily="34" charset="0"/>
                <a:ea typeface="Calibri" pitchFamily="34" charset="-122"/>
                <a:cs typeface="Calibri" pitchFamily="34" charset="-120"/>
              </a:rPr>
              <a:t>AlexNet Wins ImageNet</a:t>
            </a:r>
            <a:endParaRPr lang="en-US" sz="1300" dirty="0"/>
          </a:p>
        </p:txBody>
      </p:sp>
      <p:sp>
        <p:nvSpPr>
          <p:cNvPr id="13" name="Text 11"/>
          <p:cNvSpPr/>
          <p:nvPr/>
        </p:nvSpPr>
        <p:spPr>
          <a:xfrm>
            <a:off x="502920" y="2148840"/>
            <a:ext cx="2057400" cy="1033272"/>
          </a:xfrm>
          <a:prstGeom prst="rect">
            <a:avLst/>
          </a:prstGeom>
          <a:noFill/>
          <a:ln/>
        </p:spPr>
        <p:txBody>
          <a:bodyPr wrap="square" lIns="0" tIns="0" rIns="0" bIns="0" rtlCol="0" anchor="t"/>
          <a:lstStyle/>
          <a:p>
            <a:pPr algn="l" indent="0" marL="0">
              <a:lnSpc>
                <a:spcPct val="112000"/>
              </a:lnSpc>
              <a:buNone/>
            </a:pPr>
            <a:r>
              <a:rPr lang="en-US" sz="1050" dirty="0">
                <a:solidFill>
                  <a:srgbClr val="4A5568"/>
                </a:solidFill>
                <a:latin typeface="Calibri" pitchFamily="34" charset="0"/>
                <a:ea typeface="Calibri" pitchFamily="34" charset="-122"/>
                <a:cs typeface="Calibri" pitchFamily="34" charset="-120"/>
              </a:rPr>
              <a:t>Krizhevsky, Sutskever &amp; Hinton train a neural net on two Nvidia GPUs, halving the error rate and proving GPUs + big data = breakthrough results.</a:t>
            </a:r>
            <a:endParaRPr lang="en-US" sz="1050" dirty="0"/>
          </a:p>
        </p:txBody>
      </p:sp>
      <p:sp>
        <p:nvSpPr>
          <p:cNvPr id="14" name="Shape 12"/>
          <p:cNvSpPr/>
          <p:nvPr/>
        </p:nvSpPr>
        <p:spPr>
          <a:xfrm>
            <a:off x="6094476" y="4050792"/>
            <a:ext cx="18288" cy="457200"/>
          </a:xfrm>
          <a:prstGeom prst="rect">
            <a:avLst/>
          </a:prstGeom>
          <a:solidFill>
            <a:srgbClr val="F2B705"/>
          </a:solidFill>
          <a:ln/>
        </p:spPr>
      </p:sp>
      <p:sp>
        <p:nvSpPr>
          <p:cNvPr id="15" name="Shape 13"/>
          <p:cNvSpPr/>
          <p:nvPr/>
        </p:nvSpPr>
        <p:spPr>
          <a:xfrm>
            <a:off x="5811012" y="3502152"/>
            <a:ext cx="585216" cy="585216"/>
          </a:xfrm>
          <a:prstGeom prst="ellipse">
            <a:avLst/>
          </a:prstGeom>
          <a:solidFill>
            <a:srgbClr val="F2B705"/>
          </a:solidFill>
          <a:ln w="31750">
            <a:solidFill>
              <a:srgbClr val="FFFFFF"/>
            </a:solidFill>
            <a:prstDash val="solid"/>
          </a:ln>
          <a:effectLst>
            <a:outerShdw sx="100000" sy="100000" kx="0" ky="0" algn="bl" rotWithShape="0" blurRad="76200" dist="38100" dir="5400000">
              <a:srgbClr val="000000">
                <a:alpha val="25000"/>
              </a:srgbClr>
            </a:outerShdw>
          </a:effectLst>
        </p:spPr>
      </p:sp>
      <p:sp>
        <p:nvSpPr>
          <p:cNvPr id="16" name="Text 14"/>
          <p:cNvSpPr/>
          <p:nvPr/>
        </p:nvSpPr>
        <p:spPr>
          <a:xfrm>
            <a:off x="5811012" y="3502152"/>
            <a:ext cx="585216" cy="585216"/>
          </a:xfrm>
          <a:prstGeom prst="rect">
            <a:avLst/>
          </a:prstGeom>
          <a:noFill/>
          <a:ln/>
        </p:spPr>
        <p:txBody>
          <a:bodyPr wrap="square" lIns="0" tIns="0" rIns="0" bIns="0" rtlCol="0" anchor="ctr"/>
          <a:lstStyle/>
          <a:p>
            <a:pPr algn="ctr" indent="0" marL="0">
              <a:buNone/>
            </a:pPr>
            <a:r>
              <a:rPr lang="en-US" sz="1150" b="1" dirty="0">
                <a:solidFill>
                  <a:srgbClr val="1B1F3B"/>
                </a:solidFill>
                <a:latin typeface="Calibri" pitchFamily="34" charset="0"/>
                <a:ea typeface="Calibri" pitchFamily="34" charset="-122"/>
                <a:cs typeface="Calibri" pitchFamily="34" charset="-120"/>
              </a:rPr>
              <a:t>2016</a:t>
            </a:r>
            <a:endParaRPr lang="en-US" sz="1150" dirty="0"/>
          </a:p>
        </p:txBody>
      </p:sp>
      <p:sp>
        <p:nvSpPr>
          <p:cNvPr id="17" name="Shape 15"/>
          <p:cNvSpPr/>
          <p:nvPr/>
        </p:nvSpPr>
        <p:spPr>
          <a:xfrm>
            <a:off x="4937760" y="4553712"/>
            <a:ext cx="2331720" cy="1691640"/>
          </a:xfrm>
          <a:prstGeom prst="roundRect">
            <a:avLst>
              <a:gd name="adj" fmla="val 4324"/>
            </a:avLst>
          </a:prstGeom>
          <a:solidFill>
            <a:srgbClr val="FFFFFF"/>
          </a:solidFill>
          <a:ln/>
          <a:effectLst>
            <a:outerShdw sx="100000" sy="100000" kx="0" ky="0" algn="bl" rotWithShape="0" blurRad="76200" dist="38100" dir="5400000">
              <a:srgbClr val="1B1F3B">
                <a:alpha val="25000"/>
              </a:srgbClr>
            </a:outerShdw>
          </a:effectLst>
        </p:spPr>
      </p:sp>
      <p:sp>
        <p:nvSpPr>
          <p:cNvPr id="18" name="Text 16"/>
          <p:cNvSpPr/>
          <p:nvPr/>
        </p:nvSpPr>
        <p:spPr>
          <a:xfrm>
            <a:off x="5074920" y="4663440"/>
            <a:ext cx="2057400" cy="457200"/>
          </a:xfrm>
          <a:prstGeom prst="rect">
            <a:avLst/>
          </a:prstGeom>
          <a:noFill/>
          <a:ln/>
        </p:spPr>
        <p:txBody>
          <a:bodyPr wrap="square" lIns="0" tIns="0" rIns="0" bIns="0" rtlCol="0" anchor="t"/>
          <a:lstStyle/>
          <a:p>
            <a:pPr algn="l" indent="0" marL="0">
              <a:buNone/>
            </a:pPr>
            <a:r>
              <a:rPr lang="en-US" sz="1300" b="1" dirty="0">
                <a:solidFill>
                  <a:srgbClr val="1B1F3B"/>
                </a:solidFill>
                <a:latin typeface="Calibri" pitchFamily="34" charset="0"/>
                <a:ea typeface="Calibri" pitchFamily="34" charset="-122"/>
                <a:cs typeface="Calibri" pitchFamily="34" charset="-120"/>
              </a:rPr>
              <a:t>AlphaGo Beats Lee Sedol</a:t>
            </a:r>
            <a:endParaRPr lang="en-US" sz="1300" dirty="0"/>
          </a:p>
        </p:txBody>
      </p:sp>
      <p:sp>
        <p:nvSpPr>
          <p:cNvPr id="19" name="Text 17"/>
          <p:cNvSpPr/>
          <p:nvPr/>
        </p:nvSpPr>
        <p:spPr>
          <a:xfrm>
            <a:off x="5074920" y="5102352"/>
            <a:ext cx="2057400" cy="1033272"/>
          </a:xfrm>
          <a:prstGeom prst="rect">
            <a:avLst/>
          </a:prstGeom>
          <a:noFill/>
          <a:ln/>
        </p:spPr>
        <p:txBody>
          <a:bodyPr wrap="square" lIns="0" tIns="0" rIns="0" bIns="0" rtlCol="0" anchor="t"/>
          <a:lstStyle/>
          <a:p>
            <a:pPr algn="l" indent="0" marL="0">
              <a:lnSpc>
                <a:spcPct val="112000"/>
              </a:lnSpc>
              <a:buNone/>
            </a:pPr>
            <a:r>
              <a:rPr lang="en-US" sz="1050" dirty="0">
                <a:solidFill>
                  <a:srgbClr val="4A5568"/>
                </a:solidFill>
                <a:latin typeface="Calibri" pitchFamily="34" charset="0"/>
                <a:ea typeface="Calibri" pitchFamily="34" charset="-122"/>
                <a:cs typeface="Calibri" pitchFamily="34" charset="-120"/>
              </a:rPr>
              <a:t>Google DeepMind's AlphaGo defeats a Go world champion, a game once thought too intuitive for machines.</a:t>
            </a:r>
            <a:endParaRPr lang="en-US" sz="1050" dirty="0"/>
          </a:p>
        </p:txBody>
      </p:sp>
      <p:sp>
        <p:nvSpPr>
          <p:cNvPr id="20" name="Shape 18"/>
          <p:cNvSpPr/>
          <p:nvPr/>
        </p:nvSpPr>
        <p:spPr>
          <a:xfrm>
            <a:off x="11192256" y="3337560"/>
            <a:ext cx="18288" cy="457200"/>
          </a:xfrm>
          <a:prstGeom prst="rect">
            <a:avLst/>
          </a:prstGeom>
          <a:solidFill>
            <a:srgbClr val="F2B705"/>
          </a:solidFill>
          <a:ln/>
        </p:spPr>
      </p:sp>
      <p:sp>
        <p:nvSpPr>
          <p:cNvPr id="21" name="Shape 19"/>
          <p:cNvSpPr/>
          <p:nvPr/>
        </p:nvSpPr>
        <p:spPr>
          <a:xfrm>
            <a:off x="10908792" y="3502152"/>
            <a:ext cx="585216" cy="585216"/>
          </a:xfrm>
          <a:prstGeom prst="ellipse">
            <a:avLst/>
          </a:prstGeom>
          <a:solidFill>
            <a:srgbClr val="F2B705"/>
          </a:solidFill>
          <a:ln w="31750">
            <a:solidFill>
              <a:srgbClr val="FFFFFF"/>
            </a:solidFill>
            <a:prstDash val="solid"/>
          </a:ln>
          <a:effectLst>
            <a:outerShdw sx="100000" sy="100000" kx="0" ky="0" algn="bl" rotWithShape="0" blurRad="76200" dist="38100" dir="5400000">
              <a:srgbClr val="000000">
                <a:alpha val="25000"/>
              </a:srgbClr>
            </a:outerShdw>
          </a:effectLst>
        </p:spPr>
      </p:sp>
      <p:sp>
        <p:nvSpPr>
          <p:cNvPr id="22" name="Text 20"/>
          <p:cNvSpPr/>
          <p:nvPr/>
        </p:nvSpPr>
        <p:spPr>
          <a:xfrm>
            <a:off x="10908792" y="3502152"/>
            <a:ext cx="585216" cy="585216"/>
          </a:xfrm>
          <a:prstGeom prst="rect">
            <a:avLst/>
          </a:prstGeom>
          <a:noFill/>
          <a:ln/>
        </p:spPr>
        <p:txBody>
          <a:bodyPr wrap="square" lIns="0" tIns="0" rIns="0" bIns="0" rtlCol="0" anchor="ctr"/>
          <a:lstStyle/>
          <a:p>
            <a:pPr algn="ctr" indent="0" marL="0">
              <a:buNone/>
            </a:pPr>
            <a:r>
              <a:rPr lang="en-US" sz="1150" b="1" dirty="0">
                <a:solidFill>
                  <a:srgbClr val="1B1F3B"/>
                </a:solidFill>
                <a:latin typeface="Calibri" pitchFamily="34" charset="0"/>
                <a:ea typeface="Calibri" pitchFamily="34" charset="-122"/>
                <a:cs typeface="Calibri" pitchFamily="34" charset="-120"/>
              </a:rPr>
              <a:t>2017</a:t>
            </a:r>
            <a:endParaRPr lang="en-US" sz="1150" dirty="0"/>
          </a:p>
        </p:txBody>
      </p:sp>
      <p:sp>
        <p:nvSpPr>
          <p:cNvPr id="23" name="Shape 21"/>
          <p:cNvSpPr/>
          <p:nvPr/>
        </p:nvSpPr>
        <p:spPr>
          <a:xfrm>
            <a:off x="10660075" y="3328416"/>
            <a:ext cx="541325" cy="18288"/>
          </a:xfrm>
          <a:prstGeom prst="rect">
            <a:avLst/>
          </a:prstGeom>
          <a:solidFill>
            <a:srgbClr val="F2B705"/>
          </a:solidFill>
          <a:ln/>
        </p:spPr>
      </p:sp>
      <p:sp>
        <p:nvSpPr>
          <p:cNvPr id="24" name="Shape 22"/>
          <p:cNvSpPr/>
          <p:nvPr/>
        </p:nvSpPr>
        <p:spPr>
          <a:xfrm>
            <a:off x="9494215" y="1600200"/>
            <a:ext cx="2331720" cy="1691640"/>
          </a:xfrm>
          <a:prstGeom prst="roundRect">
            <a:avLst>
              <a:gd name="adj" fmla="val 4324"/>
            </a:avLst>
          </a:prstGeom>
          <a:solidFill>
            <a:srgbClr val="FFFFFF"/>
          </a:solidFill>
          <a:ln/>
          <a:effectLst>
            <a:outerShdw sx="100000" sy="100000" kx="0" ky="0" algn="bl" rotWithShape="0" blurRad="76200" dist="38100" dir="5400000">
              <a:srgbClr val="1B1F3B">
                <a:alpha val="25000"/>
              </a:srgbClr>
            </a:outerShdw>
          </a:effectLst>
        </p:spPr>
      </p:sp>
      <p:sp>
        <p:nvSpPr>
          <p:cNvPr id="25" name="Text 23"/>
          <p:cNvSpPr/>
          <p:nvPr/>
        </p:nvSpPr>
        <p:spPr>
          <a:xfrm>
            <a:off x="9631375" y="1709928"/>
            <a:ext cx="2057400" cy="457200"/>
          </a:xfrm>
          <a:prstGeom prst="rect">
            <a:avLst/>
          </a:prstGeom>
          <a:noFill/>
          <a:ln/>
        </p:spPr>
        <p:txBody>
          <a:bodyPr wrap="square" lIns="0" tIns="0" rIns="0" bIns="0" rtlCol="0" anchor="t"/>
          <a:lstStyle/>
          <a:p>
            <a:pPr algn="l" indent="0" marL="0">
              <a:buNone/>
            </a:pPr>
            <a:r>
              <a:rPr lang="en-US" sz="1300" b="1" dirty="0">
                <a:solidFill>
                  <a:srgbClr val="1B1F3B"/>
                </a:solidFill>
                <a:latin typeface="Calibri" pitchFamily="34" charset="0"/>
                <a:ea typeface="Calibri" pitchFamily="34" charset="-122"/>
                <a:cs typeface="Calibri" pitchFamily="34" charset="-120"/>
              </a:rPr>
              <a:t>“Attention Is All You Need”</a:t>
            </a:r>
            <a:endParaRPr lang="en-US" sz="1300" dirty="0"/>
          </a:p>
        </p:txBody>
      </p:sp>
      <p:sp>
        <p:nvSpPr>
          <p:cNvPr id="26" name="Text 24"/>
          <p:cNvSpPr/>
          <p:nvPr/>
        </p:nvSpPr>
        <p:spPr>
          <a:xfrm>
            <a:off x="9631375" y="2148840"/>
            <a:ext cx="2057400" cy="1033272"/>
          </a:xfrm>
          <a:prstGeom prst="rect">
            <a:avLst/>
          </a:prstGeom>
          <a:noFill/>
          <a:ln/>
        </p:spPr>
        <p:txBody>
          <a:bodyPr wrap="square" lIns="0" tIns="0" rIns="0" bIns="0" rtlCol="0" anchor="t"/>
          <a:lstStyle/>
          <a:p>
            <a:pPr algn="l" indent="0" marL="0">
              <a:lnSpc>
                <a:spcPct val="112000"/>
              </a:lnSpc>
              <a:buNone/>
            </a:pPr>
            <a:r>
              <a:rPr lang="en-US" sz="1050" dirty="0">
                <a:solidFill>
                  <a:srgbClr val="4A5568"/>
                </a:solidFill>
                <a:latin typeface="Calibri" pitchFamily="34" charset="0"/>
                <a:ea typeface="Calibri" pitchFamily="34" charset="-122"/>
                <a:cs typeface="Calibri" pitchFamily="34" charset="-120"/>
              </a:rPr>
              <a:t>Google Brain researchers publish the Transformer architecture, the backbone of every major AI model since.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48640" y="411480"/>
            <a:ext cx="8595360" cy="640080"/>
          </a:xfrm>
          <a:prstGeom prst="rect">
            <a:avLst/>
          </a:prstGeom>
          <a:noFill/>
          <a:ln/>
        </p:spPr>
        <p:txBody>
          <a:bodyPr wrap="square" lIns="0" tIns="0" rIns="0" bIns="0" rtlCol="0" anchor="ctr"/>
          <a:lstStyle/>
          <a:p>
            <a:pPr indent="0" marL="0">
              <a:buNone/>
            </a:pPr>
            <a:r>
              <a:rPr lang="en-US" sz="3200" b="1" dirty="0">
                <a:solidFill>
                  <a:srgbClr val="1B1F3B"/>
                </a:solidFill>
                <a:latin typeface="Cambria" pitchFamily="34" charset="0"/>
                <a:ea typeface="Cambria" pitchFamily="34" charset="-122"/>
                <a:cs typeface="Cambria" pitchFamily="34" charset="-120"/>
              </a:rPr>
              <a:t>The Generative AI &amp; Cloud Boom</a:t>
            </a:r>
            <a:endParaRPr lang="en-US" sz="3200" dirty="0"/>
          </a:p>
        </p:txBody>
      </p:sp>
      <p:sp>
        <p:nvSpPr>
          <p:cNvPr id="3" name="Text 1"/>
          <p:cNvSpPr/>
          <p:nvPr/>
        </p:nvSpPr>
        <p:spPr>
          <a:xfrm>
            <a:off x="566928" y="960120"/>
            <a:ext cx="8595360" cy="365760"/>
          </a:xfrm>
          <a:prstGeom prst="rect">
            <a:avLst/>
          </a:prstGeom>
          <a:noFill/>
          <a:ln/>
        </p:spPr>
        <p:txBody>
          <a:bodyPr wrap="square" lIns="0" tIns="0" rIns="0" bIns="0" rtlCol="0" anchor="ctr"/>
          <a:lstStyle/>
          <a:p>
            <a:pPr indent="0" marL="0">
              <a:buNone/>
            </a:pPr>
            <a:r>
              <a:rPr lang="en-US" sz="1400" i="1" dirty="0">
                <a:solidFill>
                  <a:srgbClr val="4A5568"/>
                </a:solidFill>
                <a:latin typeface="Calibri" pitchFamily="34" charset="0"/>
                <a:ea typeface="Calibri" pitchFamily="34" charset="-122"/>
                <a:cs typeface="Calibri" pitchFamily="34" charset="-120"/>
              </a:rPr>
              <a:t>Era 5 — Generative AI goes mainstream</a:t>
            </a:r>
            <a:endParaRPr lang="en-US" sz="1400" dirty="0"/>
          </a:p>
        </p:txBody>
      </p:sp>
      <p:sp>
        <p:nvSpPr>
          <p:cNvPr id="4" name="Shape 2"/>
          <p:cNvSpPr/>
          <p:nvPr/>
        </p:nvSpPr>
        <p:spPr>
          <a:xfrm>
            <a:off x="9646920" y="457200"/>
            <a:ext cx="2011680" cy="502920"/>
          </a:xfrm>
          <a:prstGeom prst="roundRect">
            <a:avLst>
              <a:gd name="adj" fmla="val 50909"/>
            </a:avLst>
          </a:prstGeom>
          <a:solidFill>
            <a:srgbClr val="F2B705"/>
          </a:solidFill>
          <a:ln/>
        </p:spPr>
      </p:sp>
      <p:sp>
        <p:nvSpPr>
          <p:cNvPr id="5" name="Text 3"/>
          <p:cNvSpPr/>
          <p:nvPr/>
        </p:nvSpPr>
        <p:spPr>
          <a:xfrm>
            <a:off x="9646920" y="457200"/>
            <a:ext cx="2011680" cy="502920"/>
          </a:xfrm>
          <a:prstGeom prst="rect">
            <a:avLst/>
          </a:prstGeom>
          <a:noFill/>
          <a:ln/>
        </p:spPr>
        <p:txBody>
          <a:bodyPr wrap="square" lIns="0" tIns="0" rIns="0" bIns="0" rtlCol="0" anchor="ctr"/>
          <a:lstStyle/>
          <a:p>
            <a:pPr algn="ctr" indent="0" marL="0">
              <a:buNone/>
            </a:pPr>
            <a:r>
              <a:rPr lang="en-US" sz="1500" b="1" dirty="0">
                <a:solidFill>
                  <a:srgbClr val="1B1F3B"/>
                </a:solidFill>
                <a:latin typeface="Calibri" pitchFamily="34" charset="0"/>
                <a:ea typeface="Calibri" pitchFamily="34" charset="-122"/>
                <a:cs typeface="Calibri" pitchFamily="34" charset="-120"/>
              </a:rPr>
              <a:t>2018 – 2026</a:t>
            </a:r>
            <a:endParaRPr lang="en-US" sz="1500" dirty="0"/>
          </a:p>
        </p:txBody>
      </p:sp>
      <p:sp>
        <p:nvSpPr>
          <p:cNvPr id="6" name="Shape 4"/>
          <p:cNvSpPr/>
          <p:nvPr/>
        </p:nvSpPr>
        <p:spPr>
          <a:xfrm>
            <a:off x="1005840" y="3781044"/>
            <a:ext cx="10195560" cy="27432"/>
          </a:xfrm>
          <a:prstGeom prst="rect">
            <a:avLst/>
          </a:prstGeom>
          <a:solidFill>
            <a:srgbClr val="F2B705"/>
          </a:solidFill>
          <a:ln/>
        </p:spPr>
      </p:sp>
      <p:sp>
        <p:nvSpPr>
          <p:cNvPr id="7" name="Shape 5"/>
          <p:cNvSpPr/>
          <p:nvPr/>
        </p:nvSpPr>
        <p:spPr>
          <a:xfrm>
            <a:off x="996696" y="3337560"/>
            <a:ext cx="18288" cy="457200"/>
          </a:xfrm>
          <a:prstGeom prst="rect">
            <a:avLst/>
          </a:prstGeom>
          <a:solidFill>
            <a:srgbClr val="F2B705"/>
          </a:solidFill>
          <a:ln/>
        </p:spPr>
      </p:sp>
      <p:sp>
        <p:nvSpPr>
          <p:cNvPr id="8" name="Shape 6"/>
          <p:cNvSpPr/>
          <p:nvPr/>
        </p:nvSpPr>
        <p:spPr>
          <a:xfrm>
            <a:off x="713232" y="3502152"/>
            <a:ext cx="585216" cy="585216"/>
          </a:xfrm>
          <a:prstGeom prst="ellipse">
            <a:avLst/>
          </a:prstGeom>
          <a:solidFill>
            <a:srgbClr val="F2B705"/>
          </a:solidFill>
          <a:ln w="31750">
            <a:solidFill>
              <a:srgbClr val="FFFFFF"/>
            </a:solidFill>
            <a:prstDash val="solid"/>
          </a:ln>
          <a:effectLst>
            <a:outerShdw sx="100000" sy="100000" kx="0" ky="0" algn="bl" rotWithShape="0" blurRad="76200" dist="38100" dir="5400000">
              <a:srgbClr val="000000">
                <a:alpha val="25000"/>
              </a:srgbClr>
            </a:outerShdw>
          </a:effectLst>
        </p:spPr>
      </p:sp>
      <p:sp>
        <p:nvSpPr>
          <p:cNvPr id="9" name="Text 7"/>
          <p:cNvSpPr/>
          <p:nvPr/>
        </p:nvSpPr>
        <p:spPr>
          <a:xfrm>
            <a:off x="713232" y="3502152"/>
            <a:ext cx="585216" cy="585216"/>
          </a:xfrm>
          <a:prstGeom prst="rect">
            <a:avLst/>
          </a:prstGeom>
          <a:noFill/>
          <a:ln/>
        </p:spPr>
        <p:txBody>
          <a:bodyPr wrap="square" lIns="0" tIns="0" rIns="0" bIns="0" rtlCol="0" anchor="ctr"/>
          <a:lstStyle/>
          <a:p>
            <a:pPr algn="ctr" indent="0" marL="0">
              <a:buNone/>
            </a:pPr>
            <a:r>
              <a:rPr lang="en-US" sz="1150" b="1" dirty="0">
                <a:solidFill>
                  <a:srgbClr val="1B1F3B"/>
                </a:solidFill>
                <a:latin typeface="Calibri" pitchFamily="34" charset="0"/>
                <a:ea typeface="Calibri" pitchFamily="34" charset="-122"/>
                <a:cs typeface="Calibri" pitchFamily="34" charset="-120"/>
              </a:rPr>
              <a:t>2020</a:t>
            </a:r>
            <a:endParaRPr lang="en-US" sz="1150" dirty="0"/>
          </a:p>
        </p:txBody>
      </p:sp>
      <p:sp>
        <p:nvSpPr>
          <p:cNvPr id="10" name="Shape 8"/>
          <p:cNvSpPr/>
          <p:nvPr/>
        </p:nvSpPr>
        <p:spPr>
          <a:xfrm>
            <a:off x="1005840" y="3328416"/>
            <a:ext cx="525780" cy="18288"/>
          </a:xfrm>
          <a:prstGeom prst="rect">
            <a:avLst/>
          </a:prstGeom>
          <a:solidFill>
            <a:srgbClr val="F2B705"/>
          </a:solidFill>
          <a:ln/>
        </p:spPr>
      </p:sp>
      <p:sp>
        <p:nvSpPr>
          <p:cNvPr id="11" name="Shape 9"/>
          <p:cNvSpPr/>
          <p:nvPr/>
        </p:nvSpPr>
        <p:spPr>
          <a:xfrm>
            <a:off x="365760" y="1600200"/>
            <a:ext cx="2331720" cy="1691640"/>
          </a:xfrm>
          <a:prstGeom prst="roundRect">
            <a:avLst>
              <a:gd name="adj" fmla="val 4324"/>
            </a:avLst>
          </a:prstGeom>
          <a:solidFill>
            <a:srgbClr val="FFFFFF"/>
          </a:solidFill>
          <a:ln/>
          <a:effectLst>
            <a:outerShdw sx="100000" sy="100000" kx="0" ky="0" algn="bl" rotWithShape="0" blurRad="76200" dist="38100" dir="5400000">
              <a:srgbClr val="1B1F3B">
                <a:alpha val="25000"/>
              </a:srgbClr>
            </a:outerShdw>
          </a:effectLst>
        </p:spPr>
      </p:sp>
      <p:sp>
        <p:nvSpPr>
          <p:cNvPr id="12" name="Text 10"/>
          <p:cNvSpPr/>
          <p:nvPr/>
        </p:nvSpPr>
        <p:spPr>
          <a:xfrm>
            <a:off x="502920" y="1709928"/>
            <a:ext cx="2057400" cy="457200"/>
          </a:xfrm>
          <a:prstGeom prst="rect">
            <a:avLst/>
          </a:prstGeom>
          <a:noFill/>
          <a:ln/>
        </p:spPr>
        <p:txBody>
          <a:bodyPr wrap="square" lIns="0" tIns="0" rIns="0" bIns="0" rtlCol="0" anchor="t"/>
          <a:lstStyle/>
          <a:p>
            <a:pPr algn="l" indent="0" marL="0">
              <a:buNone/>
            </a:pPr>
            <a:r>
              <a:rPr lang="en-US" sz="1300" b="1" dirty="0">
                <a:solidFill>
                  <a:srgbClr val="1B1F3B"/>
                </a:solidFill>
                <a:latin typeface="Calibri" pitchFamily="34" charset="0"/>
                <a:ea typeface="Calibri" pitchFamily="34" charset="-122"/>
                <a:cs typeface="Calibri" pitchFamily="34" charset="-120"/>
              </a:rPr>
              <a:t>GPT-3 Arrives</a:t>
            </a:r>
            <a:endParaRPr lang="en-US" sz="1300" dirty="0"/>
          </a:p>
        </p:txBody>
      </p:sp>
      <p:sp>
        <p:nvSpPr>
          <p:cNvPr id="13" name="Text 11"/>
          <p:cNvSpPr/>
          <p:nvPr/>
        </p:nvSpPr>
        <p:spPr>
          <a:xfrm>
            <a:off x="502920" y="2148840"/>
            <a:ext cx="2057400" cy="1033272"/>
          </a:xfrm>
          <a:prstGeom prst="rect">
            <a:avLst/>
          </a:prstGeom>
          <a:noFill/>
          <a:ln/>
        </p:spPr>
        <p:txBody>
          <a:bodyPr wrap="square" lIns="0" tIns="0" rIns="0" bIns="0" rtlCol="0" anchor="t"/>
          <a:lstStyle/>
          <a:p>
            <a:pPr algn="l" indent="0" marL="0">
              <a:lnSpc>
                <a:spcPct val="112000"/>
              </a:lnSpc>
              <a:buNone/>
            </a:pPr>
            <a:r>
              <a:rPr lang="en-US" sz="1050" dirty="0">
                <a:solidFill>
                  <a:srgbClr val="4A5568"/>
                </a:solidFill>
                <a:latin typeface="Calibri" pitchFamily="34" charset="0"/>
                <a:ea typeface="Calibri" pitchFamily="34" charset="-122"/>
                <a:cs typeface="Calibri" pitchFamily="34" charset="-120"/>
              </a:rPr>
              <a:t>OpenAI trains a 175-billion-parameter model on cloud infrastructure, showing what scale alone can do.</a:t>
            </a:r>
            <a:endParaRPr lang="en-US" sz="1050" dirty="0"/>
          </a:p>
        </p:txBody>
      </p:sp>
      <p:sp>
        <p:nvSpPr>
          <p:cNvPr id="14" name="Shape 12"/>
          <p:cNvSpPr/>
          <p:nvPr/>
        </p:nvSpPr>
        <p:spPr>
          <a:xfrm>
            <a:off x="3545586" y="4050792"/>
            <a:ext cx="18288" cy="457200"/>
          </a:xfrm>
          <a:prstGeom prst="rect">
            <a:avLst/>
          </a:prstGeom>
          <a:solidFill>
            <a:srgbClr val="F2B705"/>
          </a:solidFill>
          <a:ln/>
        </p:spPr>
      </p:sp>
      <p:sp>
        <p:nvSpPr>
          <p:cNvPr id="15" name="Shape 13"/>
          <p:cNvSpPr/>
          <p:nvPr/>
        </p:nvSpPr>
        <p:spPr>
          <a:xfrm>
            <a:off x="3262122" y="3502152"/>
            <a:ext cx="585216" cy="585216"/>
          </a:xfrm>
          <a:prstGeom prst="ellipse">
            <a:avLst/>
          </a:prstGeom>
          <a:solidFill>
            <a:srgbClr val="F2B705"/>
          </a:solidFill>
          <a:ln w="31750">
            <a:solidFill>
              <a:srgbClr val="FFFFFF"/>
            </a:solidFill>
            <a:prstDash val="solid"/>
          </a:ln>
          <a:effectLst>
            <a:outerShdw sx="100000" sy="100000" kx="0" ky="0" algn="bl" rotWithShape="0" blurRad="76200" dist="38100" dir="5400000">
              <a:srgbClr val="000000">
                <a:alpha val="25000"/>
              </a:srgbClr>
            </a:outerShdw>
          </a:effectLst>
        </p:spPr>
      </p:sp>
      <p:sp>
        <p:nvSpPr>
          <p:cNvPr id="16" name="Text 14"/>
          <p:cNvSpPr/>
          <p:nvPr/>
        </p:nvSpPr>
        <p:spPr>
          <a:xfrm>
            <a:off x="3262122" y="3502152"/>
            <a:ext cx="585216" cy="585216"/>
          </a:xfrm>
          <a:prstGeom prst="rect">
            <a:avLst/>
          </a:prstGeom>
          <a:noFill/>
          <a:ln/>
        </p:spPr>
        <p:txBody>
          <a:bodyPr wrap="square" lIns="0" tIns="0" rIns="0" bIns="0" rtlCol="0" anchor="ctr"/>
          <a:lstStyle/>
          <a:p>
            <a:pPr algn="ctr" indent="0" marL="0">
              <a:buNone/>
            </a:pPr>
            <a:r>
              <a:rPr lang="en-US" sz="1150" b="1" dirty="0">
                <a:solidFill>
                  <a:srgbClr val="1B1F3B"/>
                </a:solidFill>
                <a:latin typeface="Calibri" pitchFamily="34" charset="0"/>
                <a:ea typeface="Calibri" pitchFamily="34" charset="-122"/>
                <a:cs typeface="Calibri" pitchFamily="34" charset="-120"/>
              </a:rPr>
              <a:t>2022</a:t>
            </a:r>
            <a:endParaRPr lang="en-US" sz="1150" dirty="0"/>
          </a:p>
        </p:txBody>
      </p:sp>
      <p:sp>
        <p:nvSpPr>
          <p:cNvPr id="17" name="Shape 15"/>
          <p:cNvSpPr/>
          <p:nvPr/>
        </p:nvSpPr>
        <p:spPr>
          <a:xfrm>
            <a:off x="2388870" y="4553712"/>
            <a:ext cx="2331720" cy="1691640"/>
          </a:xfrm>
          <a:prstGeom prst="roundRect">
            <a:avLst>
              <a:gd name="adj" fmla="val 4324"/>
            </a:avLst>
          </a:prstGeom>
          <a:solidFill>
            <a:srgbClr val="FFFFFF"/>
          </a:solidFill>
          <a:ln/>
          <a:effectLst>
            <a:outerShdw sx="100000" sy="100000" kx="0" ky="0" algn="bl" rotWithShape="0" blurRad="76200" dist="38100" dir="5400000">
              <a:srgbClr val="1B1F3B">
                <a:alpha val="25000"/>
              </a:srgbClr>
            </a:outerShdw>
          </a:effectLst>
        </p:spPr>
      </p:sp>
      <p:sp>
        <p:nvSpPr>
          <p:cNvPr id="18" name="Text 16"/>
          <p:cNvSpPr/>
          <p:nvPr/>
        </p:nvSpPr>
        <p:spPr>
          <a:xfrm>
            <a:off x="2526030" y="4663440"/>
            <a:ext cx="2057400" cy="457200"/>
          </a:xfrm>
          <a:prstGeom prst="rect">
            <a:avLst/>
          </a:prstGeom>
          <a:noFill/>
          <a:ln/>
        </p:spPr>
        <p:txBody>
          <a:bodyPr wrap="square" lIns="0" tIns="0" rIns="0" bIns="0" rtlCol="0" anchor="t"/>
          <a:lstStyle/>
          <a:p>
            <a:pPr algn="l" indent="0" marL="0">
              <a:buNone/>
            </a:pPr>
            <a:r>
              <a:rPr lang="en-US" sz="1300" b="1" dirty="0">
                <a:solidFill>
                  <a:srgbClr val="1B1F3B"/>
                </a:solidFill>
                <a:latin typeface="Calibri" pitchFamily="34" charset="0"/>
                <a:ea typeface="Calibri" pitchFamily="34" charset="-122"/>
                <a:cs typeface="Calibri" pitchFamily="34" charset="-120"/>
              </a:rPr>
              <a:t>ChatGPT Launches</a:t>
            </a:r>
            <a:endParaRPr lang="en-US" sz="1300" dirty="0"/>
          </a:p>
        </p:txBody>
      </p:sp>
      <p:sp>
        <p:nvSpPr>
          <p:cNvPr id="19" name="Text 17"/>
          <p:cNvSpPr/>
          <p:nvPr/>
        </p:nvSpPr>
        <p:spPr>
          <a:xfrm>
            <a:off x="2526030" y="5102352"/>
            <a:ext cx="2057400" cy="1033272"/>
          </a:xfrm>
          <a:prstGeom prst="rect">
            <a:avLst/>
          </a:prstGeom>
          <a:noFill/>
          <a:ln/>
        </p:spPr>
        <p:txBody>
          <a:bodyPr wrap="square" lIns="0" tIns="0" rIns="0" bIns="0" rtlCol="0" anchor="t"/>
          <a:lstStyle/>
          <a:p>
            <a:pPr algn="l" indent="0" marL="0">
              <a:lnSpc>
                <a:spcPct val="112000"/>
              </a:lnSpc>
              <a:buNone/>
            </a:pPr>
            <a:r>
              <a:rPr lang="en-US" sz="1050" dirty="0">
                <a:solidFill>
                  <a:srgbClr val="4A5568"/>
                </a:solidFill>
                <a:latin typeface="Calibri" pitchFamily="34" charset="0"/>
                <a:ea typeface="Calibri" pitchFamily="34" charset="-122"/>
                <a:cs typeface="Calibri" pitchFamily="34" charset="-120"/>
              </a:rPr>
              <a:t>OpenAI's chatbot puts generative AI in the public's hands, becoming the fastest-growing app in history.</a:t>
            </a:r>
            <a:endParaRPr lang="en-US" sz="1050" dirty="0"/>
          </a:p>
        </p:txBody>
      </p:sp>
      <p:sp>
        <p:nvSpPr>
          <p:cNvPr id="20" name="Shape 18"/>
          <p:cNvSpPr/>
          <p:nvPr/>
        </p:nvSpPr>
        <p:spPr>
          <a:xfrm>
            <a:off x="6094476" y="3337560"/>
            <a:ext cx="18288" cy="457200"/>
          </a:xfrm>
          <a:prstGeom prst="rect">
            <a:avLst/>
          </a:prstGeom>
          <a:solidFill>
            <a:srgbClr val="F2B705"/>
          </a:solidFill>
          <a:ln/>
        </p:spPr>
      </p:sp>
      <p:sp>
        <p:nvSpPr>
          <p:cNvPr id="21" name="Shape 19"/>
          <p:cNvSpPr/>
          <p:nvPr/>
        </p:nvSpPr>
        <p:spPr>
          <a:xfrm>
            <a:off x="5811012" y="3502152"/>
            <a:ext cx="585216" cy="585216"/>
          </a:xfrm>
          <a:prstGeom prst="ellipse">
            <a:avLst/>
          </a:prstGeom>
          <a:solidFill>
            <a:srgbClr val="F2B705"/>
          </a:solidFill>
          <a:ln w="31750">
            <a:solidFill>
              <a:srgbClr val="FFFFFF"/>
            </a:solidFill>
            <a:prstDash val="solid"/>
          </a:ln>
          <a:effectLst>
            <a:outerShdw sx="100000" sy="100000" kx="0" ky="0" algn="bl" rotWithShape="0" blurRad="76200" dist="38100" dir="5400000">
              <a:srgbClr val="000000">
                <a:alpha val="25000"/>
              </a:srgbClr>
            </a:outerShdw>
          </a:effectLst>
        </p:spPr>
      </p:sp>
      <p:sp>
        <p:nvSpPr>
          <p:cNvPr id="22" name="Text 20"/>
          <p:cNvSpPr/>
          <p:nvPr/>
        </p:nvSpPr>
        <p:spPr>
          <a:xfrm>
            <a:off x="5811012" y="3502152"/>
            <a:ext cx="585216" cy="585216"/>
          </a:xfrm>
          <a:prstGeom prst="rect">
            <a:avLst/>
          </a:prstGeom>
          <a:noFill/>
          <a:ln/>
        </p:spPr>
        <p:txBody>
          <a:bodyPr wrap="square" lIns="0" tIns="0" rIns="0" bIns="0" rtlCol="0" anchor="ctr"/>
          <a:lstStyle/>
          <a:p>
            <a:pPr algn="ctr" indent="0" marL="0">
              <a:buNone/>
            </a:pPr>
            <a:r>
              <a:rPr lang="en-US" sz="1150" b="1" dirty="0">
                <a:solidFill>
                  <a:srgbClr val="1B1F3B"/>
                </a:solidFill>
                <a:latin typeface="Calibri" pitchFamily="34" charset="0"/>
                <a:ea typeface="Calibri" pitchFamily="34" charset="-122"/>
                <a:cs typeface="Calibri" pitchFamily="34" charset="-120"/>
              </a:rPr>
              <a:t>2023</a:t>
            </a:r>
            <a:endParaRPr lang="en-US" sz="1150" dirty="0"/>
          </a:p>
        </p:txBody>
      </p:sp>
      <p:sp>
        <p:nvSpPr>
          <p:cNvPr id="23" name="Shape 21"/>
          <p:cNvSpPr/>
          <p:nvPr/>
        </p:nvSpPr>
        <p:spPr>
          <a:xfrm>
            <a:off x="4937760" y="1600200"/>
            <a:ext cx="2331720" cy="1691640"/>
          </a:xfrm>
          <a:prstGeom prst="roundRect">
            <a:avLst>
              <a:gd name="adj" fmla="val 4324"/>
            </a:avLst>
          </a:prstGeom>
          <a:solidFill>
            <a:srgbClr val="FFFFFF"/>
          </a:solidFill>
          <a:ln/>
          <a:effectLst>
            <a:outerShdw sx="100000" sy="100000" kx="0" ky="0" algn="bl" rotWithShape="0" blurRad="76200" dist="38100" dir="5400000">
              <a:srgbClr val="1B1F3B">
                <a:alpha val="25000"/>
              </a:srgbClr>
            </a:outerShdw>
          </a:effectLst>
        </p:spPr>
      </p:sp>
      <p:sp>
        <p:nvSpPr>
          <p:cNvPr id="24" name="Text 22"/>
          <p:cNvSpPr/>
          <p:nvPr/>
        </p:nvSpPr>
        <p:spPr>
          <a:xfrm>
            <a:off x="5074920" y="1709928"/>
            <a:ext cx="2057400" cy="457200"/>
          </a:xfrm>
          <a:prstGeom prst="rect">
            <a:avLst/>
          </a:prstGeom>
          <a:noFill/>
          <a:ln/>
        </p:spPr>
        <p:txBody>
          <a:bodyPr wrap="square" lIns="0" tIns="0" rIns="0" bIns="0" rtlCol="0" anchor="t"/>
          <a:lstStyle/>
          <a:p>
            <a:pPr algn="l" indent="0" marL="0">
              <a:buNone/>
            </a:pPr>
            <a:r>
              <a:rPr lang="en-US" sz="1300" b="1" dirty="0">
                <a:solidFill>
                  <a:srgbClr val="1B1F3B"/>
                </a:solidFill>
                <a:latin typeface="Calibri" pitchFamily="34" charset="0"/>
                <a:ea typeface="Calibri" pitchFamily="34" charset="-122"/>
                <a:cs typeface="Calibri" pitchFamily="34" charset="-120"/>
              </a:rPr>
              <a:t>GPT-4 &amp; Gemini</a:t>
            </a:r>
            <a:endParaRPr lang="en-US" sz="1300" dirty="0"/>
          </a:p>
        </p:txBody>
      </p:sp>
      <p:sp>
        <p:nvSpPr>
          <p:cNvPr id="25" name="Text 23"/>
          <p:cNvSpPr/>
          <p:nvPr/>
        </p:nvSpPr>
        <p:spPr>
          <a:xfrm>
            <a:off x="5074920" y="2148840"/>
            <a:ext cx="2057400" cy="1033272"/>
          </a:xfrm>
          <a:prstGeom prst="rect">
            <a:avLst/>
          </a:prstGeom>
          <a:noFill/>
          <a:ln/>
        </p:spPr>
        <p:txBody>
          <a:bodyPr wrap="square" lIns="0" tIns="0" rIns="0" bIns="0" rtlCol="0" anchor="t"/>
          <a:lstStyle/>
          <a:p>
            <a:pPr algn="l" indent="0" marL="0">
              <a:lnSpc>
                <a:spcPct val="112000"/>
              </a:lnSpc>
              <a:buNone/>
            </a:pPr>
            <a:r>
              <a:rPr lang="en-US" sz="1050" dirty="0">
                <a:solidFill>
                  <a:srgbClr val="4A5568"/>
                </a:solidFill>
                <a:latin typeface="Calibri" pitchFamily="34" charset="0"/>
                <a:ea typeface="Calibri" pitchFamily="34" charset="-122"/>
                <a:cs typeface="Calibri" pitchFamily="34" charset="-120"/>
              </a:rPr>
              <a:t>OpenAI and Google release powerful multimodal models, kicking off an industry-wide AI arms race.</a:t>
            </a:r>
            <a:endParaRPr lang="en-US" sz="1050" dirty="0"/>
          </a:p>
        </p:txBody>
      </p:sp>
      <p:sp>
        <p:nvSpPr>
          <p:cNvPr id="26" name="Shape 24"/>
          <p:cNvSpPr/>
          <p:nvPr/>
        </p:nvSpPr>
        <p:spPr>
          <a:xfrm>
            <a:off x="8643366" y="4050792"/>
            <a:ext cx="18288" cy="457200"/>
          </a:xfrm>
          <a:prstGeom prst="rect">
            <a:avLst/>
          </a:prstGeom>
          <a:solidFill>
            <a:srgbClr val="F2B705"/>
          </a:solidFill>
          <a:ln/>
        </p:spPr>
      </p:sp>
      <p:sp>
        <p:nvSpPr>
          <p:cNvPr id="27" name="Shape 25"/>
          <p:cNvSpPr/>
          <p:nvPr/>
        </p:nvSpPr>
        <p:spPr>
          <a:xfrm>
            <a:off x="8359902" y="3502152"/>
            <a:ext cx="585216" cy="585216"/>
          </a:xfrm>
          <a:prstGeom prst="ellipse">
            <a:avLst/>
          </a:prstGeom>
          <a:solidFill>
            <a:srgbClr val="F2B705"/>
          </a:solidFill>
          <a:ln w="31750">
            <a:solidFill>
              <a:srgbClr val="FFFFFF"/>
            </a:solidFill>
            <a:prstDash val="solid"/>
          </a:ln>
          <a:effectLst>
            <a:outerShdw sx="100000" sy="100000" kx="0" ky="0" algn="bl" rotWithShape="0" blurRad="76200" dist="38100" dir="5400000">
              <a:srgbClr val="000000">
                <a:alpha val="25000"/>
              </a:srgbClr>
            </a:outerShdw>
          </a:effectLst>
        </p:spPr>
      </p:sp>
      <p:sp>
        <p:nvSpPr>
          <p:cNvPr id="28" name="Text 26"/>
          <p:cNvSpPr/>
          <p:nvPr/>
        </p:nvSpPr>
        <p:spPr>
          <a:xfrm>
            <a:off x="8359902" y="3502152"/>
            <a:ext cx="585216" cy="585216"/>
          </a:xfrm>
          <a:prstGeom prst="rect">
            <a:avLst/>
          </a:prstGeom>
          <a:noFill/>
          <a:ln/>
        </p:spPr>
        <p:txBody>
          <a:bodyPr wrap="square" lIns="0" tIns="0" rIns="0" bIns="0" rtlCol="0" anchor="ctr"/>
          <a:lstStyle/>
          <a:p>
            <a:pPr algn="ctr" indent="0" marL="0">
              <a:buNone/>
            </a:pPr>
            <a:r>
              <a:rPr lang="en-US" sz="1150" b="1" dirty="0">
                <a:solidFill>
                  <a:srgbClr val="1B1F3B"/>
                </a:solidFill>
                <a:latin typeface="Calibri" pitchFamily="34" charset="0"/>
                <a:ea typeface="Calibri" pitchFamily="34" charset="-122"/>
                <a:cs typeface="Calibri" pitchFamily="34" charset="-120"/>
              </a:rPr>
              <a:t>2024</a:t>
            </a:r>
            <a:endParaRPr lang="en-US" sz="1150" dirty="0"/>
          </a:p>
        </p:txBody>
      </p:sp>
      <p:sp>
        <p:nvSpPr>
          <p:cNvPr id="29" name="Shape 27"/>
          <p:cNvSpPr/>
          <p:nvPr/>
        </p:nvSpPr>
        <p:spPr>
          <a:xfrm>
            <a:off x="7486650" y="4553712"/>
            <a:ext cx="2331720" cy="1691640"/>
          </a:xfrm>
          <a:prstGeom prst="roundRect">
            <a:avLst>
              <a:gd name="adj" fmla="val 4324"/>
            </a:avLst>
          </a:prstGeom>
          <a:solidFill>
            <a:srgbClr val="FFFFFF"/>
          </a:solidFill>
          <a:ln/>
          <a:effectLst>
            <a:outerShdw sx="100000" sy="100000" kx="0" ky="0" algn="bl" rotWithShape="0" blurRad="76200" dist="38100" dir="5400000">
              <a:srgbClr val="1B1F3B">
                <a:alpha val="25000"/>
              </a:srgbClr>
            </a:outerShdw>
          </a:effectLst>
        </p:spPr>
      </p:sp>
      <p:sp>
        <p:nvSpPr>
          <p:cNvPr id="30" name="Text 28"/>
          <p:cNvSpPr/>
          <p:nvPr/>
        </p:nvSpPr>
        <p:spPr>
          <a:xfrm>
            <a:off x="7623810" y="4663440"/>
            <a:ext cx="2057400" cy="457200"/>
          </a:xfrm>
          <a:prstGeom prst="rect">
            <a:avLst/>
          </a:prstGeom>
          <a:noFill/>
          <a:ln/>
        </p:spPr>
        <p:txBody>
          <a:bodyPr wrap="square" lIns="0" tIns="0" rIns="0" bIns="0" rtlCol="0" anchor="t"/>
          <a:lstStyle/>
          <a:p>
            <a:pPr algn="l" indent="0" marL="0">
              <a:buNone/>
            </a:pPr>
            <a:r>
              <a:rPr lang="en-US" sz="1300" b="1" dirty="0">
                <a:solidFill>
                  <a:srgbClr val="1B1F3B"/>
                </a:solidFill>
                <a:latin typeface="Calibri" pitchFamily="34" charset="0"/>
                <a:ea typeface="Calibri" pitchFamily="34" charset="-122"/>
                <a:cs typeface="Calibri" pitchFamily="34" charset="-120"/>
              </a:rPr>
              <a:t>AI Goes Everyday</a:t>
            </a:r>
            <a:endParaRPr lang="en-US" sz="1300" dirty="0"/>
          </a:p>
        </p:txBody>
      </p:sp>
      <p:sp>
        <p:nvSpPr>
          <p:cNvPr id="31" name="Text 29"/>
          <p:cNvSpPr/>
          <p:nvPr/>
        </p:nvSpPr>
        <p:spPr>
          <a:xfrm>
            <a:off x="7623810" y="5102352"/>
            <a:ext cx="2057400" cy="1033272"/>
          </a:xfrm>
          <a:prstGeom prst="rect">
            <a:avLst/>
          </a:prstGeom>
          <a:noFill/>
          <a:ln/>
        </p:spPr>
        <p:txBody>
          <a:bodyPr wrap="square" lIns="0" tIns="0" rIns="0" bIns="0" rtlCol="0" anchor="t"/>
          <a:lstStyle/>
          <a:p>
            <a:pPr algn="l" indent="0" marL="0">
              <a:lnSpc>
                <a:spcPct val="112000"/>
              </a:lnSpc>
              <a:buNone/>
            </a:pPr>
            <a:r>
              <a:rPr lang="en-US" sz="1050" dirty="0">
                <a:solidFill>
                  <a:srgbClr val="4A5568"/>
                </a:solidFill>
                <a:latin typeface="Calibri" pitchFamily="34" charset="0"/>
                <a:ea typeface="Calibri" pitchFamily="34" charset="-122"/>
                <a:cs typeface="Calibri" pitchFamily="34" charset="-120"/>
              </a:rPr>
              <a:t>Apple Intelligence and open-weight models (Llama, Mistral) bring AI directly into consumer devices.</a:t>
            </a:r>
            <a:endParaRPr lang="en-US" sz="1050" dirty="0"/>
          </a:p>
        </p:txBody>
      </p:sp>
      <p:sp>
        <p:nvSpPr>
          <p:cNvPr id="32" name="Shape 30"/>
          <p:cNvSpPr/>
          <p:nvPr/>
        </p:nvSpPr>
        <p:spPr>
          <a:xfrm>
            <a:off x="11192256" y="3337560"/>
            <a:ext cx="18288" cy="457200"/>
          </a:xfrm>
          <a:prstGeom prst="rect">
            <a:avLst/>
          </a:prstGeom>
          <a:solidFill>
            <a:srgbClr val="F2B705"/>
          </a:solidFill>
          <a:ln/>
        </p:spPr>
      </p:sp>
      <p:sp>
        <p:nvSpPr>
          <p:cNvPr id="33" name="Shape 31"/>
          <p:cNvSpPr/>
          <p:nvPr/>
        </p:nvSpPr>
        <p:spPr>
          <a:xfrm>
            <a:off x="10908792" y="3502152"/>
            <a:ext cx="585216" cy="585216"/>
          </a:xfrm>
          <a:prstGeom prst="ellipse">
            <a:avLst/>
          </a:prstGeom>
          <a:solidFill>
            <a:srgbClr val="F2B705"/>
          </a:solidFill>
          <a:ln w="31750">
            <a:solidFill>
              <a:srgbClr val="FFFFFF"/>
            </a:solidFill>
            <a:prstDash val="solid"/>
          </a:ln>
          <a:effectLst>
            <a:outerShdw sx="100000" sy="100000" kx="0" ky="0" algn="bl" rotWithShape="0" blurRad="76200" dist="38100" dir="5400000">
              <a:srgbClr val="000000">
                <a:alpha val="25000"/>
              </a:srgbClr>
            </a:outerShdw>
          </a:effectLst>
        </p:spPr>
      </p:sp>
      <p:sp>
        <p:nvSpPr>
          <p:cNvPr id="34" name="Text 32"/>
          <p:cNvSpPr/>
          <p:nvPr/>
        </p:nvSpPr>
        <p:spPr>
          <a:xfrm>
            <a:off x="10908792" y="3502152"/>
            <a:ext cx="585216" cy="585216"/>
          </a:xfrm>
          <a:prstGeom prst="rect">
            <a:avLst/>
          </a:prstGeom>
          <a:noFill/>
          <a:ln/>
        </p:spPr>
        <p:txBody>
          <a:bodyPr wrap="square" lIns="0" tIns="0" rIns="0" bIns="0" rtlCol="0" anchor="ctr"/>
          <a:lstStyle/>
          <a:p>
            <a:pPr algn="ctr" indent="0" marL="0">
              <a:buNone/>
            </a:pPr>
            <a:r>
              <a:rPr lang="en-US" sz="1150" b="1" dirty="0">
                <a:solidFill>
                  <a:srgbClr val="1B1F3B"/>
                </a:solidFill>
                <a:latin typeface="Calibri" pitchFamily="34" charset="0"/>
                <a:ea typeface="Calibri" pitchFamily="34" charset="-122"/>
                <a:cs typeface="Calibri" pitchFamily="34" charset="-120"/>
              </a:rPr>
              <a:t>2026</a:t>
            </a:r>
            <a:endParaRPr lang="en-US" sz="1150" dirty="0"/>
          </a:p>
        </p:txBody>
      </p:sp>
      <p:sp>
        <p:nvSpPr>
          <p:cNvPr id="35" name="Shape 33"/>
          <p:cNvSpPr/>
          <p:nvPr/>
        </p:nvSpPr>
        <p:spPr>
          <a:xfrm>
            <a:off x="10660075" y="3328416"/>
            <a:ext cx="541325" cy="18288"/>
          </a:xfrm>
          <a:prstGeom prst="rect">
            <a:avLst/>
          </a:prstGeom>
          <a:solidFill>
            <a:srgbClr val="F2B705"/>
          </a:solidFill>
          <a:ln/>
        </p:spPr>
      </p:sp>
      <p:sp>
        <p:nvSpPr>
          <p:cNvPr id="36" name="Shape 34"/>
          <p:cNvSpPr/>
          <p:nvPr/>
        </p:nvSpPr>
        <p:spPr>
          <a:xfrm>
            <a:off x="9494215" y="1600200"/>
            <a:ext cx="2331720" cy="1691640"/>
          </a:xfrm>
          <a:prstGeom prst="roundRect">
            <a:avLst>
              <a:gd name="adj" fmla="val 4324"/>
            </a:avLst>
          </a:prstGeom>
          <a:solidFill>
            <a:srgbClr val="FFFFFF"/>
          </a:solidFill>
          <a:ln/>
          <a:effectLst>
            <a:outerShdw sx="100000" sy="100000" kx="0" ky="0" algn="bl" rotWithShape="0" blurRad="76200" dist="38100" dir="5400000">
              <a:srgbClr val="1B1F3B">
                <a:alpha val="25000"/>
              </a:srgbClr>
            </a:outerShdw>
          </a:effectLst>
        </p:spPr>
      </p:sp>
      <p:sp>
        <p:nvSpPr>
          <p:cNvPr id="37" name="Text 35"/>
          <p:cNvSpPr/>
          <p:nvPr/>
        </p:nvSpPr>
        <p:spPr>
          <a:xfrm>
            <a:off x="9631375" y="1709928"/>
            <a:ext cx="2057400" cy="457200"/>
          </a:xfrm>
          <a:prstGeom prst="rect">
            <a:avLst/>
          </a:prstGeom>
          <a:noFill/>
          <a:ln/>
        </p:spPr>
        <p:txBody>
          <a:bodyPr wrap="square" lIns="0" tIns="0" rIns="0" bIns="0" rtlCol="0" anchor="t"/>
          <a:lstStyle/>
          <a:p>
            <a:pPr algn="l" indent="0" marL="0">
              <a:buNone/>
            </a:pPr>
            <a:r>
              <a:rPr lang="en-US" sz="1300" b="1" dirty="0">
                <a:solidFill>
                  <a:srgbClr val="1B1F3B"/>
                </a:solidFill>
                <a:latin typeface="Calibri" pitchFamily="34" charset="0"/>
                <a:ea typeface="Calibri" pitchFamily="34" charset="-122"/>
                <a:cs typeface="Calibri" pitchFamily="34" charset="-120"/>
              </a:rPr>
              <a:t>Agentic AI Emerges</a:t>
            </a:r>
            <a:endParaRPr lang="en-US" sz="1300" dirty="0"/>
          </a:p>
        </p:txBody>
      </p:sp>
      <p:sp>
        <p:nvSpPr>
          <p:cNvPr id="38" name="Text 36"/>
          <p:cNvSpPr/>
          <p:nvPr/>
        </p:nvSpPr>
        <p:spPr>
          <a:xfrm>
            <a:off x="9631375" y="2148840"/>
            <a:ext cx="2057400" cy="1033272"/>
          </a:xfrm>
          <a:prstGeom prst="rect">
            <a:avLst/>
          </a:prstGeom>
          <a:noFill/>
          <a:ln/>
        </p:spPr>
        <p:txBody>
          <a:bodyPr wrap="square" lIns="0" tIns="0" rIns="0" bIns="0" rtlCol="0" anchor="t"/>
          <a:lstStyle/>
          <a:p>
            <a:pPr algn="l" indent="0" marL="0">
              <a:lnSpc>
                <a:spcPct val="112000"/>
              </a:lnSpc>
              <a:buNone/>
            </a:pPr>
            <a:r>
              <a:rPr lang="en-US" sz="1050" dirty="0">
                <a:solidFill>
                  <a:srgbClr val="4A5568"/>
                </a:solidFill>
                <a:latin typeface="Calibri" pitchFamily="34" charset="0"/>
                <a:ea typeface="Calibri" pitchFamily="34" charset="-122"/>
                <a:cs typeface="Calibri" pitchFamily="34" charset="-120"/>
              </a:rPr>
              <a:t>AI systems begin to reason, browse, and complete multi-step tasks autonomously, moving beyond chat.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48640" y="411480"/>
            <a:ext cx="9144000" cy="640080"/>
          </a:xfrm>
          <a:prstGeom prst="rect">
            <a:avLst/>
          </a:prstGeom>
          <a:noFill/>
          <a:ln/>
        </p:spPr>
        <p:txBody>
          <a:bodyPr wrap="square" lIns="0" tIns="0" rIns="0" bIns="0" rtlCol="0" anchor="ctr"/>
          <a:lstStyle/>
          <a:p>
            <a:pPr indent="0" marL="0">
              <a:buNone/>
            </a:pPr>
            <a:r>
              <a:rPr lang="en-US" sz="3200" b="1" dirty="0">
                <a:solidFill>
                  <a:srgbClr val="1B1F3B"/>
                </a:solidFill>
                <a:latin typeface="Cambria" pitchFamily="34" charset="0"/>
                <a:ea typeface="Cambria" pitchFamily="34" charset="-122"/>
                <a:cs typeface="Cambria" pitchFamily="34" charset="-120"/>
              </a:rPr>
              <a:t>Major Players Along the Way</a:t>
            </a:r>
            <a:endParaRPr lang="en-US" sz="3200" dirty="0"/>
          </a:p>
        </p:txBody>
      </p:sp>
      <p:sp>
        <p:nvSpPr>
          <p:cNvPr id="3" name="Text 1"/>
          <p:cNvSpPr/>
          <p:nvPr/>
        </p:nvSpPr>
        <p:spPr>
          <a:xfrm>
            <a:off x="566928" y="960120"/>
            <a:ext cx="9601200" cy="365760"/>
          </a:xfrm>
          <a:prstGeom prst="rect">
            <a:avLst/>
          </a:prstGeom>
          <a:noFill/>
          <a:ln/>
        </p:spPr>
        <p:txBody>
          <a:bodyPr wrap="square" lIns="0" tIns="0" rIns="0" bIns="0" rtlCol="0" anchor="ctr"/>
          <a:lstStyle/>
          <a:p>
            <a:pPr indent="0" marL="0">
              <a:buNone/>
            </a:pPr>
            <a:r>
              <a:rPr lang="en-US" sz="1400" i="1" dirty="0">
                <a:solidFill>
                  <a:srgbClr val="4A5568"/>
                </a:solidFill>
                <a:latin typeface="Calibri" pitchFamily="34" charset="0"/>
                <a:ea typeface="Calibri" pitchFamily="34" charset="-122"/>
                <a:cs typeface="Calibri" pitchFamily="34" charset="-120"/>
              </a:rPr>
              <a:t>The people and companies whose contributions built each era above</a:t>
            </a:r>
            <a:endParaRPr lang="en-US" sz="1400" dirty="0"/>
          </a:p>
        </p:txBody>
      </p:sp>
      <p:sp>
        <p:nvSpPr>
          <p:cNvPr id="4" name="Shape 2"/>
          <p:cNvSpPr/>
          <p:nvPr/>
        </p:nvSpPr>
        <p:spPr>
          <a:xfrm>
            <a:off x="548640" y="1600200"/>
            <a:ext cx="2567178" cy="2148840"/>
          </a:xfrm>
          <a:prstGeom prst="roundRect">
            <a:avLst>
              <a:gd name="adj" fmla="val 3404"/>
            </a:avLst>
          </a:prstGeom>
          <a:solidFill>
            <a:srgbClr val="FFFFFF"/>
          </a:solidFill>
          <a:ln/>
          <a:effectLst>
            <a:outerShdw sx="100000" sy="100000" kx="0" ky="0" algn="bl" rotWithShape="0" blurRad="76200" dist="38100" dir="5400000">
              <a:srgbClr val="1B1F3B">
                <a:alpha val="25000"/>
              </a:srgbClr>
            </a:outerShdw>
          </a:effectLst>
        </p:spPr>
      </p:sp>
      <p:sp>
        <p:nvSpPr>
          <p:cNvPr id="5" name="Shape 3"/>
          <p:cNvSpPr/>
          <p:nvPr/>
        </p:nvSpPr>
        <p:spPr>
          <a:xfrm>
            <a:off x="1466469" y="1828800"/>
            <a:ext cx="731520" cy="731520"/>
          </a:xfrm>
          <a:prstGeom prst="ellipse">
            <a:avLst/>
          </a:prstGeom>
          <a:solidFill>
            <a:srgbClr val="12163B"/>
          </a:solidFill>
          <a:ln/>
        </p:spPr>
      </p:sp>
      <p:sp>
        <p:nvSpPr>
          <p:cNvPr id="6" name="Text 4"/>
          <p:cNvSpPr/>
          <p:nvPr/>
        </p:nvSpPr>
        <p:spPr>
          <a:xfrm>
            <a:off x="1466469" y="1828800"/>
            <a:ext cx="731520"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a:t>
            </a:r>
            <a:endParaRPr lang="en-US" sz="1300" dirty="0"/>
          </a:p>
        </p:txBody>
      </p:sp>
      <p:sp>
        <p:nvSpPr>
          <p:cNvPr id="7" name="Text 5"/>
          <p:cNvSpPr/>
          <p:nvPr/>
        </p:nvSpPr>
        <p:spPr>
          <a:xfrm>
            <a:off x="658368" y="2651760"/>
            <a:ext cx="2347722" cy="502920"/>
          </a:xfrm>
          <a:prstGeom prst="rect">
            <a:avLst/>
          </a:prstGeom>
          <a:noFill/>
          <a:ln/>
        </p:spPr>
        <p:txBody>
          <a:bodyPr wrap="square" lIns="0" tIns="0" rIns="0" bIns="0" rtlCol="0" anchor="t"/>
          <a:lstStyle/>
          <a:p>
            <a:pPr algn="ctr" indent="0" marL="0">
              <a:buNone/>
            </a:pPr>
            <a:r>
              <a:rPr lang="en-US" sz="1200" b="1" dirty="0">
                <a:solidFill>
                  <a:srgbClr val="1B1F3B"/>
                </a:solidFill>
                <a:latin typeface="Calibri" pitchFamily="34" charset="0"/>
                <a:ea typeface="Calibri" pitchFamily="34" charset="-122"/>
                <a:cs typeface="Calibri" pitchFamily="34" charset="-120"/>
              </a:rPr>
              <a:t>Alan Turing</a:t>
            </a:r>
            <a:endParaRPr lang="en-US" sz="1200" dirty="0"/>
          </a:p>
        </p:txBody>
      </p:sp>
      <p:sp>
        <p:nvSpPr>
          <p:cNvPr id="8" name="Text 6"/>
          <p:cNvSpPr/>
          <p:nvPr/>
        </p:nvSpPr>
        <p:spPr>
          <a:xfrm>
            <a:off x="658368" y="3108960"/>
            <a:ext cx="2347722" cy="594360"/>
          </a:xfrm>
          <a:prstGeom prst="rect">
            <a:avLst/>
          </a:prstGeom>
          <a:noFill/>
          <a:ln/>
        </p:spPr>
        <p:txBody>
          <a:bodyPr wrap="square" lIns="0" tIns="0" rIns="0" bIns="0" rtlCol="0" anchor="t"/>
          <a:lstStyle/>
          <a:p>
            <a:pPr algn="ctr" indent="0" marL="0">
              <a:lnSpc>
                <a:spcPct val="110000"/>
              </a:lnSpc>
              <a:buNone/>
            </a:pPr>
            <a:r>
              <a:rPr lang="en-US" sz="950" dirty="0">
                <a:solidFill>
                  <a:srgbClr val="4A5568"/>
                </a:solidFill>
                <a:latin typeface="Calibri" pitchFamily="34" charset="0"/>
                <a:ea typeface="Calibri" pitchFamily="34" charset="-122"/>
                <a:cs typeface="Calibri" pitchFamily="34" charset="-120"/>
              </a:rPr>
              <a:t>Turing Test, 1950 — the field's founding question</a:t>
            </a:r>
            <a:endParaRPr lang="en-US" sz="950" dirty="0"/>
          </a:p>
        </p:txBody>
      </p:sp>
      <p:sp>
        <p:nvSpPr>
          <p:cNvPr id="9" name="Shape 7"/>
          <p:cNvSpPr/>
          <p:nvPr/>
        </p:nvSpPr>
        <p:spPr>
          <a:xfrm>
            <a:off x="3390138" y="1600200"/>
            <a:ext cx="2567178" cy="2148840"/>
          </a:xfrm>
          <a:prstGeom prst="roundRect">
            <a:avLst>
              <a:gd name="adj" fmla="val 3404"/>
            </a:avLst>
          </a:prstGeom>
          <a:solidFill>
            <a:srgbClr val="FFFFFF"/>
          </a:solidFill>
          <a:ln/>
          <a:effectLst>
            <a:outerShdw sx="100000" sy="100000" kx="0" ky="0" algn="bl" rotWithShape="0" blurRad="76200" dist="38100" dir="5400000">
              <a:srgbClr val="1B1F3B">
                <a:alpha val="25000"/>
              </a:srgbClr>
            </a:outerShdw>
          </a:effectLst>
        </p:spPr>
      </p:sp>
      <p:sp>
        <p:nvSpPr>
          <p:cNvPr id="10" name="Shape 8"/>
          <p:cNvSpPr/>
          <p:nvPr/>
        </p:nvSpPr>
        <p:spPr>
          <a:xfrm>
            <a:off x="4307967" y="1828800"/>
            <a:ext cx="731520" cy="731520"/>
          </a:xfrm>
          <a:prstGeom prst="ellipse">
            <a:avLst/>
          </a:prstGeom>
          <a:solidFill>
            <a:srgbClr val="12163B"/>
          </a:solidFill>
          <a:ln/>
        </p:spPr>
      </p:sp>
      <p:sp>
        <p:nvSpPr>
          <p:cNvPr id="11" name="Text 9"/>
          <p:cNvSpPr/>
          <p:nvPr/>
        </p:nvSpPr>
        <p:spPr>
          <a:xfrm>
            <a:off x="4307967" y="1828800"/>
            <a:ext cx="731520"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JM</a:t>
            </a:r>
            <a:endParaRPr lang="en-US" sz="1300" dirty="0"/>
          </a:p>
        </p:txBody>
      </p:sp>
      <p:sp>
        <p:nvSpPr>
          <p:cNvPr id="12" name="Text 10"/>
          <p:cNvSpPr/>
          <p:nvPr/>
        </p:nvSpPr>
        <p:spPr>
          <a:xfrm>
            <a:off x="3499866" y="2651760"/>
            <a:ext cx="2347722" cy="502920"/>
          </a:xfrm>
          <a:prstGeom prst="rect">
            <a:avLst/>
          </a:prstGeom>
          <a:noFill/>
          <a:ln/>
        </p:spPr>
        <p:txBody>
          <a:bodyPr wrap="square" lIns="0" tIns="0" rIns="0" bIns="0" rtlCol="0" anchor="t"/>
          <a:lstStyle/>
          <a:p>
            <a:pPr algn="ctr" indent="0" marL="0">
              <a:buNone/>
            </a:pPr>
            <a:r>
              <a:rPr lang="en-US" sz="1200" b="1" dirty="0">
                <a:solidFill>
                  <a:srgbClr val="1B1F3B"/>
                </a:solidFill>
                <a:latin typeface="Calibri" pitchFamily="34" charset="0"/>
                <a:ea typeface="Calibri" pitchFamily="34" charset="-122"/>
                <a:cs typeface="Calibri" pitchFamily="34" charset="-120"/>
              </a:rPr>
              <a:t>John McCarthy</a:t>
            </a:r>
            <a:endParaRPr lang="en-US" sz="1200" dirty="0"/>
          </a:p>
        </p:txBody>
      </p:sp>
      <p:sp>
        <p:nvSpPr>
          <p:cNvPr id="13" name="Text 11"/>
          <p:cNvSpPr/>
          <p:nvPr/>
        </p:nvSpPr>
        <p:spPr>
          <a:xfrm>
            <a:off x="3499866" y="3108960"/>
            <a:ext cx="2347722" cy="594360"/>
          </a:xfrm>
          <a:prstGeom prst="rect">
            <a:avLst/>
          </a:prstGeom>
          <a:noFill/>
          <a:ln/>
        </p:spPr>
        <p:txBody>
          <a:bodyPr wrap="square" lIns="0" tIns="0" rIns="0" bIns="0" rtlCol="0" anchor="t"/>
          <a:lstStyle/>
          <a:p>
            <a:pPr algn="ctr" indent="0" marL="0">
              <a:lnSpc>
                <a:spcPct val="110000"/>
              </a:lnSpc>
              <a:buNone/>
            </a:pPr>
            <a:r>
              <a:rPr lang="en-US" sz="950" dirty="0">
                <a:solidFill>
                  <a:srgbClr val="4A5568"/>
                </a:solidFill>
                <a:latin typeface="Calibri" pitchFamily="34" charset="0"/>
                <a:ea typeface="Calibri" pitchFamily="34" charset="-122"/>
                <a:cs typeface="Calibri" pitchFamily="34" charset="-120"/>
              </a:rPr>
              <a:t>Coined “Artificial Intelligence,” Dartmouth 1956</a:t>
            </a:r>
            <a:endParaRPr lang="en-US" sz="950" dirty="0"/>
          </a:p>
        </p:txBody>
      </p:sp>
      <p:sp>
        <p:nvSpPr>
          <p:cNvPr id="14" name="Shape 12"/>
          <p:cNvSpPr/>
          <p:nvPr/>
        </p:nvSpPr>
        <p:spPr>
          <a:xfrm>
            <a:off x="6231636" y="1600200"/>
            <a:ext cx="2567178" cy="2148840"/>
          </a:xfrm>
          <a:prstGeom prst="roundRect">
            <a:avLst>
              <a:gd name="adj" fmla="val 3404"/>
            </a:avLst>
          </a:prstGeom>
          <a:solidFill>
            <a:srgbClr val="FFFFFF"/>
          </a:solidFill>
          <a:ln/>
          <a:effectLst>
            <a:outerShdw sx="100000" sy="100000" kx="0" ky="0" algn="bl" rotWithShape="0" blurRad="76200" dist="38100" dir="5400000">
              <a:srgbClr val="1B1F3B">
                <a:alpha val="25000"/>
              </a:srgbClr>
            </a:outerShdw>
          </a:effectLst>
        </p:spPr>
      </p:sp>
      <p:sp>
        <p:nvSpPr>
          <p:cNvPr id="15" name="Shape 13"/>
          <p:cNvSpPr/>
          <p:nvPr/>
        </p:nvSpPr>
        <p:spPr>
          <a:xfrm>
            <a:off x="7149465" y="1828800"/>
            <a:ext cx="731520" cy="731520"/>
          </a:xfrm>
          <a:prstGeom prst="ellipse">
            <a:avLst/>
          </a:prstGeom>
          <a:solidFill>
            <a:srgbClr val="F2B705"/>
          </a:solidFill>
          <a:ln/>
        </p:spPr>
      </p:sp>
      <p:sp>
        <p:nvSpPr>
          <p:cNvPr id="16" name="Text 14"/>
          <p:cNvSpPr/>
          <p:nvPr/>
        </p:nvSpPr>
        <p:spPr>
          <a:xfrm>
            <a:off x="7149465" y="1828800"/>
            <a:ext cx="731520" cy="731520"/>
          </a:xfrm>
          <a:prstGeom prst="rect">
            <a:avLst/>
          </a:prstGeom>
          <a:noFill/>
          <a:ln/>
        </p:spPr>
        <p:txBody>
          <a:bodyPr wrap="square" lIns="0" tIns="0" rIns="0" bIns="0" rtlCol="0" anchor="ctr"/>
          <a:lstStyle/>
          <a:p>
            <a:pPr algn="ctr" indent="0" marL="0">
              <a:buNone/>
            </a:pPr>
            <a:r>
              <a:rPr lang="en-US" sz="1300" b="1" dirty="0">
                <a:solidFill>
                  <a:srgbClr val="1B1F3B"/>
                </a:solidFill>
                <a:latin typeface="Calibri" pitchFamily="34" charset="0"/>
                <a:ea typeface="Calibri" pitchFamily="34" charset="-122"/>
                <a:cs typeface="Calibri" pitchFamily="34" charset="-120"/>
              </a:rPr>
              <a:t>GH</a:t>
            </a:r>
            <a:endParaRPr lang="en-US" sz="1300" dirty="0"/>
          </a:p>
        </p:txBody>
      </p:sp>
      <p:sp>
        <p:nvSpPr>
          <p:cNvPr id="17" name="Text 15"/>
          <p:cNvSpPr/>
          <p:nvPr/>
        </p:nvSpPr>
        <p:spPr>
          <a:xfrm>
            <a:off x="6341364" y="2651760"/>
            <a:ext cx="2347722" cy="502920"/>
          </a:xfrm>
          <a:prstGeom prst="rect">
            <a:avLst/>
          </a:prstGeom>
          <a:noFill/>
          <a:ln/>
        </p:spPr>
        <p:txBody>
          <a:bodyPr wrap="square" lIns="0" tIns="0" rIns="0" bIns="0" rtlCol="0" anchor="t"/>
          <a:lstStyle/>
          <a:p>
            <a:pPr algn="ctr" indent="0" marL="0">
              <a:buNone/>
            </a:pPr>
            <a:r>
              <a:rPr lang="en-US" sz="1200" b="1" dirty="0">
                <a:solidFill>
                  <a:srgbClr val="1B1F3B"/>
                </a:solidFill>
                <a:latin typeface="Calibri" pitchFamily="34" charset="0"/>
                <a:ea typeface="Calibri" pitchFamily="34" charset="-122"/>
                <a:cs typeface="Calibri" pitchFamily="34" charset="-120"/>
              </a:rPr>
              <a:t>Hinton, Krizhevsky &amp; Sutskever</a:t>
            </a:r>
            <a:endParaRPr lang="en-US" sz="1200" dirty="0"/>
          </a:p>
        </p:txBody>
      </p:sp>
      <p:sp>
        <p:nvSpPr>
          <p:cNvPr id="18" name="Text 16"/>
          <p:cNvSpPr/>
          <p:nvPr/>
        </p:nvSpPr>
        <p:spPr>
          <a:xfrm>
            <a:off x="6341364" y="3108960"/>
            <a:ext cx="2347722" cy="594360"/>
          </a:xfrm>
          <a:prstGeom prst="rect">
            <a:avLst/>
          </a:prstGeom>
          <a:noFill/>
          <a:ln/>
        </p:spPr>
        <p:txBody>
          <a:bodyPr wrap="square" lIns="0" tIns="0" rIns="0" bIns="0" rtlCol="0" anchor="t"/>
          <a:lstStyle/>
          <a:p>
            <a:pPr algn="ctr" indent="0" marL="0">
              <a:lnSpc>
                <a:spcPct val="110000"/>
              </a:lnSpc>
              <a:buNone/>
            </a:pPr>
            <a:r>
              <a:rPr lang="en-US" sz="950" dirty="0">
                <a:solidFill>
                  <a:srgbClr val="4A5568"/>
                </a:solidFill>
                <a:latin typeface="Calibri" pitchFamily="34" charset="0"/>
                <a:ea typeface="Calibri" pitchFamily="34" charset="-122"/>
                <a:cs typeface="Calibri" pitchFamily="34" charset="-120"/>
              </a:rPr>
              <a:t>Built AlexNet, sparked the deep learning boom</a:t>
            </a:r>
            <a:endParaRPr lang="en-US" sz="950" dirty="0"/>
          </a:p>
        </p:txBody>
      </p:sp>
      <p:sp>
        <p:nvSpPr>
          <p:cNvPr id="19" name="Shape 17"/>
          <p:cNvSpPr/>
          <p:nvPr/>
        </p:nvSpPr>
        <p:spPr>
          <a:xfrm>
            <a:off x="9073134" y="1600200"/>
            <a:ext cx="2567178" cy="2148840"/>
          </a:xfrm>
          <a:prstGeom prst="roundRect">
            <a:avLst>
              <a:gd name="adj" fmla="val 3404"/>
            </a:avLst>
          </a:prstGeom>
          <a:solidFill>
            <a:srgbClr val="FFFFFF"/>
          </a:solidFill>
          <a:ln/>
          <a:effectLst>
            <a:outerShdw sx="100000" sy="100000" kx="0" ky="0" algn="bl" rotWithShape="0" blurRad="76200" dist="38100" dir="5400000">
              <a:srgbClr val="1B1F3B">
                <a:alpha val="25000"/>
              </a:srgbClr>
            </a:outerShdw>
          </a:effectLst>
        </p:spPr>
      </p:sp>
      <p:sp>
        <p:nvSpPr>
          <p:cNvPr id="20" name="Shape 18"/>
          <p:cNvSpPr/>
          <p:nvPr/>
        </p:nvSpPr>
        <p:spPr>
          <a:xfrm>
            <a:off x="9990963" y="1828800"/>
            <a:ext cx="731520" cy="731520"/>
          </a:xfrm>
          <a:prstGeom prst="ellipse">
            <a:avLst/>
          </a:prstGeom>
          <a:solidFill>
            <a:srgbClr val="F2B705"/>
          </a:solidFill>
          <a:ln/>
        </p:spPr>
      </p:sp>
      <p:sp>
        <p:nvSpPr>
          <p:cNvPr id="21" name="Text 19"/>
          <p:cNvSpPr/>
          <p:nvPr/>
        </p:nvSpPr>
        <p:spPr>
          <a:xfrm>
            <a:off x="9990963" y="1828800"/>
            <a:ext cx="731520" cy="731520"/>
          </a:xfrm>
          <a:prstGeom prst="rect">
            <a:avLst/>
          </a:prstGeom>
          <a:noFill/>
          <a:ln/>
        </p:spPr>
        <p:txBody>
          <a:bodyPr wrap="square" lIns="0" tIns="0" rIns="0" bIns="0" rtlCol="0" anchor="ctr"/>
          <a:lstStyle/>
          <a:p>
            <a:pPr algn="ctr" indent="0" marL="0">
              <a:buNone/>
            </a:pPr>
            <a:r>
              <a:rPr lang="en-US" sz="1300" b="1" dirty="0">
                <a:solidFill>
                  <a:srgbClr val="1B1F3B"/>
                </a:solidFill>
                <a:latin typeface="Calibri" pitchFamily="34" charset="0"/>
                <a:ea typeface="Calibri" pitchFamily="34" charset="-122"/>
                <a:cs typeface="Calibri" pitchFamily="34" charset="-120"/>
              </a:rPr>
              <a:t>FL</a:t>
            </a:r>
            <a:endParaRPr lang="en-US" sz="1300" dirty="0"/>
          </a:p>
        </p:txBody>
      </p:sp>
      <p:sp>
        <p:nvSpPr>
          <p:cNvPr id="22" name="Text 20"/>
          <p:cNvSpPr/>
          <p:nvPr/>
        </p:nvSpPr>
        <p:spPr>
          <a:xfrm>
            <a:off x="9182862" y="2651760"/>
            <a:ext cx="2347722" cy="502920"/>
          </a:xfrm>
          <a:prstGeom prst="rect">
            <a:avLst/>
          </a:prstGeom>
          <a:noFill/>
          <a:ln/>
        </p:spPr>
        <p:txBody>
          <a:bodyPr wrap="square" lIns="0" tIns="0" rIns="0" bIns="0" rtlCol="0" anchor="t"/>
          <a:lstStyle/>
          <a:p>
            <a:pPr algn="ctr" indent="0" marL="0">
              <a:buNone/>
            </a:pPr>
            <a:r>
              <a:rPr lang="en-US" sz="1200" b="1" dirty="0">
                <a:solidFill>
                  <a:srgbClr val="1B1F3B"/>
                </a:solidFill>
                <a:latin typeface="Calibri" pitchFamily="34" charset="0"/>
                <a:ea typeface="Calibri" pitchFamily="34" charset="-122"/>
                <a:cs typeface="Calibri" pitchFamily="34" charset="-120"/>
              </a:rPr>
              <a:t>Fei-Fei Li</a:t>
            </a:r>
            <a:endParaRPr lang="en-US" sz="1200" dirty="0"/>
          </a:p>
        </p:txBody>
      </p:sp>
      <p:sp>
        <p:nvSpPr>
          <p:cNvPr id="23" name="Text 21"/>
          <p:cNvSpPr/>
          <p:nvPr/>
        </p:nvSpPr>
        <p:spPr>
          <a:xfrm>
            <a:off x="9182862" y="3108960"/>
            <a:ext cx="2347722" cy="594360"/>
          </a:xfrm>
          <a:prstGeom prst="rect">
            <a:avLst/>
          </a:prstGeom>
          <a:noFill/>
          <a:ln/>
        </p:spPr>
        <p:txBody>
          <a:bodyPr wrap="square" lIns="0" tIns="0" rIns="0" bIns="0" rtlCol="0" anchor="t"/>
          <a:lstStyle/>
          <a:p>
            <a:pPr algn="ctr" indent="0" marL="0">
              <a:lnSpc>
                <a:spcPct val="110000"/>
              </a:lnSpc>
              <a:buNone/>
            </a:pPr>
            <a:r>
              <a:rPr lang="en-US" sz="950" dirty="0">
                <a:solidFill>
                  <a:srgbClr val="4A5568"/>
                </a:solidFill>
                <a:latin typeface="Calibri" pitchFamily="34" charset="0"/>
                <a:ea typeface="Calibri" pitchFamily="34" charset="-122"/>
                <a:cs typeface="Calibri" pitchFamily="34" charset="-120"/>
              </a:rPr>
              <a:t>Built ImageNet, the dataset that powered AlexNet</a:t>
            </a:r>
            <a:endParaRPr lang="en-US" sz="950" dirty="0"/>
          </a:p>
        </p:txBody>
      </p:sp>
      <p:sp>
        <p:nvSpPr>
          <p:cNvPr id="24" name="Shape 22"/>
          <p:cNvSpPr/>
          <p:nvPr/>
        </p:nvSpPr>
        <p:spPr>
          <a:xfrm>
            <a:off x="548640" y="4023360"/>
            <a:ext cx="2567178" cy="2148840"/>
          </a:xfrm>
          <a:prstGeom prst="roundRect">
            <a:avLst>
              <a:gd name="adj" fmla="val 3404"/>
            </a:avLst>
          </a:prstGeom>
          <a:solidFill>
            <a:srgbClr val="FFFFFF"/>
          </a:solidFill>
          <a:ln/>
          <a:effectLst>
            <a:outerShdw sx="100000" sy="100000" kx="0" ky="0" algn="bl" rotWithShape="0" blurRad="76200" dist="38100" dir="5400000">
              <a:srgbClr val="1B1F3B">
                <a:alpha val="25000"/>
              </a:srgbClr>
            </a:outerShdw>
          </a:effectLst>
        </p:spPr>
      </p:sp>
      <p:sp>
        <p:nvSpPr>
          <p:cNvPr id="25" name="Shape 23"/>
          <p:cNvSpPr/>
          <p:nvPr/>
        </p:nvSpPr>
        <p:spPr>
          <a:xfrm>
            <a:off x="1466469" y="4251960"/>
            <a:ext cx="731520" cy="731520"/>
          </a:xfrm>
          <a:prstGeom prst="ellipse">
            <a:avLst/>
          </a:prstGeom>
          <a:solidFill>
            <a:srgbClr val="F2B705"/>
          </a:solidFill>
          <a:ln/>
        </p:spPr>
      </p:sp>
      <p:sp>
        <p:nvSpPr>
          <p:cNvPr id="26" name="Text 24"/>
          <p:cNvSpPr/>
          <p:nvPr/>
        </p:nvSpPr>
        <p:spPr>
          <a:xfrm>
            <a:off x="1466469" y="4251960"/>
            <a:ext cx="731520" cy="731520"/>
          </a:xfrm>
          <a:prstGeom prst="rect">
            <a:avLst/>
          </a:prstGeom>
          <a:noFill/>
          <a:ln/>
        </p:spPr>
        <p:txBody>
          <a:bodyPr wrap="square" lIns="0" tIns="0" rIns="0" bIns="0" rtlCol="0" anchor="ctr"/>
          <a:lstStyle/>
          <a:p>
            <a:pPr algn="ctr" indent="0" marL="0">
              <a:buNone/>
            </a:pPr>
            <a:r>
              <a:rPr lang="en-US" sz="1300" b="1" dirty="0">
                <a:solidFill>
                  <a:srgbClr val="1B1F3B"/>
                </a:solidFill>
                <a:latin typeface="Calibri" pitchFamily="34" charset="0"/>
                <a:ea typeface="Calibri" pitchFamily="34" charset="-122"/>
                <a:cs typeface="Calibri" pitchFamily="34" charset="-120"/>
              </a:rPr>
              <a:t>NV</a:t>
            </a:r>
            <a:endParaRPr lang="en-US" sz="1300" dirty="0"/>
          </a:p>
        </p:txBody>
      </p:sp>
      <p:sp>
        <p:nvSpPr>
          <p:cNvPr id="27" name="Text 25"/>
          <p:cNvSpPr/>
          <p:nvPr/>
        </p:nvSpPr>
        <p:spPr>
          <a:xfrm>
            <a:off x="658368" y="5074920"/>
            <a:ext cx="2347722" cy="502920"/>
          </a:xfrm>
          <a:prstGeom prst="rect">
            <a:avLst/>
          </a:prstGeom>
          <a:noFill/>
          <a:ln/>
        </p:spPr>
        <p:txBody>
          <a:bodyPr wrap="square" lIns="0" tIns="0" rIns="0" bIns="0" rtlCol="0" anchor="t"/>
          <a:lstStyle/>
          <a:p>
            <a:pPr algn="ctr" indent="0" marL="0">
              <a:buNone/>
            </a:pPr>
            <a:r>
              <a:rPr lang="en-US" sz="1200" b="1" dirty="0">
                <a:solidFill>
                  <a:srgbClr val="1B1F3B"/>
                </a:solidFill>
                <a:latin typeface="Calibri" pitchFamily="34" charset="0"/>
                <a:ea typeface="Calibri" pitchFamily="34" charset="-122"/>
                <a:cs typeface="Calibri" pitchFamily="34" charset="-120"/>
              </a:rPr>
              <a:t>Nvidia</a:t>
            </a:r>
            <a:endParaRPr lang="en-US" sz="1200" dirty="0"/>
          </a:p>
        </p:txBody>
      </p:sp>
      <p:sp>
        <p:nvSpPr>
          <p:cNvPr id="28" name="Text 26"/>
          <p:cNvSpPr/>
          <p:nvPr/>
        </p:nvSpPr>
        <p:spPr>
          <a:xfrm>
            <a:off x="658368" y="5532120"/>
            <a:ext cx="2347722" cy="594360"/>
          </a:xfrm>
          <a:prstGeom prst="rect">
            <a:avLst/>
          </a:prstGeom>
          <a:noFill/>
          <a:ln/>
        </p:spPr>
        <p:txBody>
          <a:bodyPr wrap="square" lIns="0" tIns="0" rIns="0" bIns="0" rtlCol="0" anchor="t"/>
          <a:lstStyle/>
          <a:p>
            <a:pPr algn="ctr" indent="0" marL="0">
              <a:lnSpc>
                <a:spcPct val="110000"/>
              </a:lnSpc>
              <a:buNone/>
            </a:pPr>
            <a:r>
              <a:rPr lang="en-US" sz="950" dirty="0">
                <a:solidFill>
                  <a:srgbClr val="4A5568"/>
                </a:solidFill>
                <a:latin typeface="Calibri" pitchFamily="34" charset="0"/>
                <a:ea typeface="Calibri" pitchFamily="34" charset="-122"/>
                <a:cs typeface="Calibri" pitchFamily="34" charset="-120"/>
              </a:rPr>
              <a:t>GPU hardware that made large-scale training possible</a:t>
            </a:r>
            <a:endParaRPr lang="en-US" sz="950" dirty="0"/>
          </a:p>
        </p:txBody>
      </p:sp>
      <p:sp>
        <p:nvSpPr>
          <p:cNvPr id="29" name="Shape 27"/>
          <p:cNvSpPr/>
          <p:nvPr/>
        </p:nvSpPr>
        <p:spPr>
          <a:xfrm>
            <a:off x="3390138" y="4023360"/>
            <a:ext cx="2567178" cy="2148840"/>
          </a:xfrm>
          <a:prstGeom prst="roundRect">
            <a:avLst>
              <a:gd name="adj" fmla="val 3404"/>
            </a:avLst>
          </a:prstGeom>
          <a:solidFill>
            <a:srgbClr val="FFFFFF"/>
          </a:solidFill>
          <a:ln/>
          <a:effectLst>
            <a:outerShdw sx="100000" sy="100000" kx="0" ky="0" algn="bl" rotWithShape="0" blurRad="76200" dist="38100" dir="5400000">
              <a:srgbClr val="1B1F3B">
                <a:alpha val="25000"/>
              </a:srgbClr>
            </a:outerShdw>
          </a:effectLst>
        </p:spPr>
      </p:sp>
      <p:sp>
        <p:nvSpPr>
          <p:cNvPr id="30" name="Shape 28"/>
          <p:cNvSpPr/>
          <p:nvPr/>
        </p:nvSpPr>
        <p:spPr>
          <a:xfrm>
            <a:off x="4307967" y="4251960"/>
            <a:ext cx="731520" cy="731520"/>
          </a:xfrm>
          <a:prstGeom prst="ellipse">
            <a:avLst/>
          </a:prstGeom>
          <a:solidFill>
            <a:srgbClr val="F2B705"/>
          </a:solidFill>
          <a:ln/>
        </p:spPr>
      </p:sp>
      <p:sp>
        <p:nvSpPr>
          <p:cNvPr id="31" name="Text 29"/>
          <p:cNvSpPr/>
          <p:nvPr/>
        </p:nvSpPr>
        <p:spPr>
          <a:xfrm>
            <a:off x="4307967" y="4251960"/>
            <a:ext cx="731520" cy="731520"/>
          </a:xfrm>
          <a:prstGeom prst="rect">
            <a:avLst/>
          </a:prstGeom>
          <a:noFill/>
          <a:ln/>
        </p:spPr>
        <p:txBody>
          <a:bodyPr wrap="square" lIns="0" tIns="0" rIns="0" bIns="0" rtlCol="0" anchor="ctr"/>
          <a:lstStyle/>
          <a:p>
            <a:pPr algn="ctr" indent="0" marL="0">
              <a:buNone/>
            </a:pPr>
            <a:r>
              <a:rPr lang="en-US" sz="1300" b="1" dirty="0">
                <a:solidFill>
                  <a:srgbClr val="1B1F3B"/>
                </a:solidFill>
                <a:latin typeface="Calibri" pitchFamily="34" charset="0"/>
                <a:ea typeface="Calibri" pitchFamily="34" charset="-122"/>
                <a:cs typeface="Calibri" pitchFamily="34" charset="-120"/>
              </a:rPr>
              <a:t>DM</a:t>
            </a:r>
            <a:endParaRPr lang="en-US" sz="1300" dirty="0"/>
          </a:p>
        </p:txBody>
      </p:sp>
      <p:sp>
        <p:nvSpPr>
          <p:cNvPr id="32" name="Text 30"/>
          <p:cNvSpPr/>
          <p:nvPr/>
        </p:nvSpPr>
        <p:spPr>
          <a:xfrm>
            <a:off x="3499866" y="5074920"/>
            <a:ext cx="2347722" cy="502920"/>
          </a:xfrm>
          <a:prstGeom prst="rect">
            <a:avLst/>
          </a:prstGeom>
          <a:noFill/>
          <a:ln/>
        </p:spPr>
        <p:txBody>
          <a:bodyPr wrap="square" lIns="0" tIns="0" rIns="0" bIns="0" rtlCol="0" anchor="t"/>
          <a:lstStyle/>
          <a:p>
            <a:pPr algn="ctr" indent="0" marL="0">
              <a:buNone/>
            </a:pPr>
            <a:r>
              <a:rPr lang="en-US" sz="1200" b="1" dirty="0">
                <a:solidFill>
                  <a:srgbClr val="1B1F3B"/>
                </a:solidFill>
                <a:latin typeface="Calibri" pitchFamily="34" charset="0"/>
                <a:ea typeface="Calibri" pitchFamily="34" charset="-122"/>
                <a:cs typeface="Calibri" pitchFamily="34" charset="-120"/>
              </a:rPr>
              <a:t>Google DeepMind</a:t>
            </a:r>
            <a:endParaRPr lang="en-US" sz="1200" dirty="0"/>
          </a:p>
        </p:txBody>
      </p:sp>
      <p:sp>
        <p:nvSpPr>
          <p:cNvPr id="33" name="Text 31"/>
          <p:cNvSpPr/>
          <p:nvPr/>
        </p:nvSpPr>
        <p:spPr>
          <a:xfrm>
            <a:off x="3499866" y="5532120"/>
            <a:ext cx="2347722" cy="594360"/>
          </a:xfrm>
          <a:prstGeom prst="rect">
            <a:avLst/>
          </a:prstGeom>
          <a:noFill/>
          <a:ln/>
        </p:spPr>
        <p:txBody>
          <a:bodyPr wrap="square" lIns="0" tIns="0" rIns="0" bIns="0" rtlCol="0" anchor="t"/>
          <a:lstStyle/>
          <a:p>
            <a:pPr algn="ctr" indent="0" marL="0">
              <a:lnSpc>
                <a:spcPct val="110000"/>
              </a:lnSpc>
              <a:buNone/>
            </a:pPr>
            <a:r>
              <a:rPr lang="en-US" sz="950" dirty="0">
                <a:solidFill>
                  <a:srgbClr val="4A5568"/>
                </a:solidFill>
                <a:latin typeface="Calibri" pitchFamily="34" charset="0"/>
                <a:ea typeface="Calibri" pitchFamily="34" charset="-122"/>
                <a:cs typeface="Calibri" pitchFamily="34" charset="-120"/>
              </a:rPr>
              <a:t>AlphaGo (2016) and the Transformer paper (2017)</a:t>
            </a:r>
            <a:endParaRPr lang="en-US" sz="950" dirty="0"/>
          </a:p>
        </p:txBody>
      </p:sp>
      <p:sp>
        <p:nvSpPr>
          <p:cNvPr id="34" name="Shape 32"/>
          <p:cNvSpPr/>
          <p:nvPr/>
        </p:nvSpPr>
        <p:spPr>
          <a:xfrm>
            <a:off x="6231636" y="4023360"/>
            <a:ext cx="2567178" cy="2148840"/>
          </a:xfrm>
          <a:prstGeom prst="roundRect">
            <a:avLst>
              <a:gd name="adj" fmla="val 3404"/>
            </a:avLst>
          </a:prstGeom>
          <a:solidFill>
            <a:srgbClr val="FFFFFF"/>
          </a:solidFill>
          <a:ln/>
          <a:effectLst>
            <a:outerShdw sx="100000" sy="100000" kx="0" ky="0" algn="bl" rotWithShape="0" blurRad="76200" dist="38100" dir="5400000">
              <a:srgbClr val="1B1F3B">
                <a:alpha val="25000"/>
              </a:srgbClr>
            </a:outerShdw>
          </a:effectLst>
        </p:spPr>
      </p:sp>
      <p:sp>
        <p:nvSpPr>
          <p:cNvPr id="35" name="Shape 33"/>
          <p:cNvSpPr/>
          <p:nvPr/>
        </p:nvSpPr>
        <p:spPr>
          <a:xfrm>
            <a:off x="7149465" y="4251960"/>
            <a:ext cx="731520" cy="731520"/>
          </a:xfrm>
          <a:prstGeom prst="ellipse">
            <a:avLst/>
          </a:prstGeom>
          <a:solidFill>
            <a:srgbClr val="7C8DB5"/>
          </a:solidFill>
          <a:ln/>
        </p:spPr>
      </p:sp>
      <p:sp>
        <p:nvSpPr>
          <p:cNvPr id="36" name="Text 34"/>
          <p:cNvSpPr/>
          <p:nvPr/>
        </p:nvSpPr>
        <p:spPr>
          <a:xfrm>
            <a:off x="7149465" y="4251960"/>
            <a:ext cx="731520"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IBM</a:t>
            </a:r>
            <a:endParaRPr lang="en-US" sz="1300" dirty="0"/>
          </a:p>
        </p:txBody>
      </p:sp>
      <p:sp>
        <p:nvSpPr>
          <p:cNvPr id="37" name="Text 35"/>
          <p:cNvSpPr/>
          <p:nvPr/>
        </p:nvSpPr>
        <p:spPr>
          <a:xfrm>
            <a:off x="6341364" y="5074920"/>
            <a:ext cx="2347722" cy="502920"/>
          </a:xfrm>
          <a:prstGeom prst="rect">
            <a:avLst/>
          </a:prstGeom>
          <a:noFill/>
          <a:ln/>
        </p:spPr>
        <p:txBody>
          <a:bodyPr wrap="square" lIns="0" tIns="0" rIns="0" bIns="0" rtlCol="0" anchor="t"/>
          <a:lstStyle/>
          <a:p>
            <a:pPr algn="ctr" indent="0" marL="0">
              <a:buNone/>
            </a:pPr>
            <a:r>
              <a:rPr lang="en-US" sz="1200" b="1" dirty="0">
                <a:solidFill>
                  <a:srgbClr val="1B1F3B"/>
                </a:solidFill>
                <a:latin typeface="Calibri" pitchFamily="34" charset="0"/>
                <a:ea typeface="Calibri" pitchFamily="34" charset="-122"/>
                <a:cs typeface="Calibri" pitchFamily="34" charset="-120"/>
              </a:rPr>
              <a:t>IBM</a:t>
            </a:r>
            <a:endParaRPr lang="en-US" sz="1200" dirty="0"/>
          </a:p>
        </p:txBody>
      </p:sp>
      <p:sp>
        <p:nvSpPr>
          <p:cNvPr id="38" name="Text 36"/>
          <p:cNvSpPr/>
          <p:nvPr/>
        </p:nvSpPr>
        <p:spPr>
          <a:xfrm>
            <a:off x="6341364" y="5532120"/>
            <a:ext cx="2347722" cy="594360"/>
          </a:xfrm>
          <a:prstGeom prst="rect">
            <a:avLst/>
          </a:prstGeom>
          <a:noFill/>
          <a:ln/>
        </p:spPr>
        <p:txBody>
          <a:bodyPr wrap="square" lIns="0" tIns="0" rIns="0" bIns="0" rtlCol="0" anchor="t"/>
          <a:lstStyle/>
          <a:p>
            <a:pPr algn="ctr" indent="0" marL="0">
              <a:lnSpc>
                <a:spcPct val="110000"/>
              </a:lnSpc>
              <a:buNone/>
            </a:pPr>
            <a:r>
              <a:rPr lang="en-US" sz="950" dirty="0">
                <a:solidFill>
                  <a:srgbClr val="4A5568"/>
                </a:solidFill>
                <a:latin typeface="Calibri" pitchFamily="34" charset="0"/>
                <a:ea typeface="Calibri" pitchFamily="34" charset="-122"/>
                <a:cs typeface="Calibri" pitchFamily="34" charset="-120"/>
              </a:rPr>
              <a:t>Deep Blue (1997) and Watson (2011)</a:t>
            </a:r>
            <a:endParaRPr lang="en-US" sz="950" dirty="0"/>
          </a:p>
        </p:txBody>
      </p:sp>
      <p:sp>
        <p:nvSpPr>
          <p:cNvPr id="39" name="Shape 37"/>
          <p:cNvSpPr/>
          <p:nvPr/>
        </p:nvSpPr>
        <p:spPr>
          <a:xfrm>
            <a:off x="9073134" y="4023360"/>
            <a:ext cx="2567178" cy="2148840"/>
          </a:xfrm>
          <a:prstGeom prst="roundRect">
            <a:avLst>
              <a:gd name="adj" fmla="val 3404"/>
            </a:avLst>
          </a:prstGeom>
          <a:solidFill>
            <a:srgbClr val="FFFFFF"/>
          </a:solidFill>
          <a:ln/>
          <a:effectLst>
            <a:outerShdw sx="100000" sy="100000" kx="0" ky="0" algn="bl" rotWithShape="0" blurRad="76200" dist="38100" dir="5400000">
              <a:srgbClr val="1B1F3B">
                <a:alpha val="25000"/>
              </a:srgbClr>
            </a:outerShdw>
          </a:effectLst>
        </p:spPr>
      </p:sp>
      <p:sp>
        <p:nvSpPr>
          <p:cNvPr id="40" name="Shape 38"/>
          <p:cNvSpPr/>
          <p:nvPr/>
        </p:nvSpPr>
        <p:spPr>
          <a:xfrm>
            <a:off x="9990963" y="4251960"/>
            <a:ext cx="731520" cy="731520"/>
          </a:xfrm>
          <a:prstGeom prst="ellipse">
            <a:avLst/>
          </a:prstGeom>
          <a:solidFill>
            <a:srgbClr val="F2B705"/>
          </a:solidFill>
          <a:ln/>
        </p:spPr>
      </p:sp>
      <p:sp>
        <p:nvSpPr>
          <p:cNvPr id="41" name="Text 39"/>
          <p:cNvSpPr/>
          <p:nvPr/>
        </p:nvSpPr>
        <p:spPr>
          <a:xfrm>
            <a:off x="9990963" y="4251960"/>
            <a:ext cx="731520" cy="731520"/>
          </a:xfrm>
          <a:prstGeom prst="rect">
            <a:avLst/>
          </a:prstGeom>
          <a:noFill/>
          <a:ln/>
        </p:spPr>
        <p:txBody>
          <a:bodyPr wrap="square" lIns="0" tIns="0" rIns="0" bIns="0" rtlCol="0" anchor="ctr"/>
          <a:lstStyle/>
          <a:p>
            <a:pPr algn="ctr" indent="0" marL="0">
              <a:buNone/>
            </a:pPr>
            <a:r>
              <a:rPr lang="en-US" sz="1300" b="1" dirty="0">
                <a:solidFill>
                  <a:srgbClr val="1B1F3B"/>
                </a:solidFill>
                <a:latin typeface="Calibri" pitchFamily="34" charset="0"/>
                <a:ea typeface="Calibri" pitchFamily="34" charset="-122"/>
                <a:cs typeface="Calibri" pitchFamily="34" charset="-120"/>
              </a:rPr>
              <a:t>OAI</a:t>
            </a:r>
            <a:endParaRPr lang="en-US" sz="1300" dirty="0"/>
          </a:p>
        </p:txBody>
      </p:sp>
      <p:sp>
        <p:nvSpPr>
          <p:cNvPr id="42" name="Text 40"/>
          <p:cNvSpPr/>
          <p:nvPr/>
        </p:nvSpPr>
        <p:spPr>
          <a:xfrm>
            <a:off x="9182862" y="5074920"/>
            <a:ext cx="2347722" cy="502920"/>
          </a:xfrm>
          <a:prstGeom prst="rect">
            <a:avLst/>
          </a:prstGeom>
          <a:noFill/>
          <a:ln/>
        </p:spPr>
        <p:txBody>
          <a:bodyPr wrap="square" lIns="0" tIns="0" rIns="0" bIns="0" rtlCol="0" anchor="t"/>
          <a:lstStyle/>
          <a:p>
            <a:pPr algn="ctr" indent="0" marL="0">
              <a:buNone/>
            </a:pPr>
            <a:r>
              <a:rPr lang="en-US" sz="1200" b="1" dirty="0">
                <a:solidFill>
                  <a:srgbClr val="1B1F3B"/>
                </a:solidFill>
                <a:latin typeface="Calibri" pitchFamily="34" charset="0"/>
                <a:ea typeface="Calibri" pitchFamily="34" charset="-122"/>
                <a:cs typeface="Calibri" pitchFamily="34" charset="-120"/>
              </a:rPr>
              <a:t>OpenAI</a:t>
            </a:r>
            <a:endParaRPr lang="en-US" sz="1200" dirty="0"/>
          </a:p>
        </p:txBody>
      </p:sp>
      <p:sp>
        <p:nvSpPr>
          <p:cNvPr id="43" name="Text 41"/>
          <p:cNvSpPr/>
          <p:nvPr/>
        </p:nvSpPr>
        <p:spPr>
          <a:xfrm>
            <a:off x="9182862" y="5532120"/>
            <a:ext cx="2347722" cy="594360"/>
          </a:xfrm>
          <a:prstGeom prst="rect">
            <a:avLst/>
          </a:prstGeom>
          <a:noFill/>
          <a:ln/>
        </p:spPr>
        <p:txBody>
          <a:bodyPr wrap="square" lIns="0" tIns="0" rIns="0" bIns="0" rtlCol="0" anchor="t"/>
          <a:lstStyle/>
          <a:p>
            <a:pPr algn="ctr" indent="0" marL="0">
              <a:lnSpc>
                <a:spcPct val="110000"/>
              </a:lnSpc>
              <a:buNone/>
            </a:pPr>
            <a:r>
              <a:rPr lang="en-US" sz="950" dirty="0">
                <a:solidFill>
                  <a:srgbClr val="4A5568"/>
                </a:solidFill>
                <a:latin typeface="Calibri" pitchFamily="34" charset="0"/>
                <a:ea typeface="Calibri" pitchFamily="34" charset="-122"/>
                <a:cs typeface="Calibri" pitchFamily="34" charset="-120"/>
              </a:rPr>
              <a:t>GPT models and ChatGPT — mainstreamed generative AI</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63B"/>
        </a:solidFill>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Sources &amp; Research Tools</a:t>
            </a:r>
            <a:endParaRPr lang="en-US" sz="3200" dirty="0"/>
          </a:p>
        </p:txBody>
      </p:sp>
      <p:sp>
        <p:nvSpPr>
          <p:cNvPr id="3" name="Shape 1"/>
          <p:cNvSpPr/>
          <p:nvPr/>
        </p:nvSpPr>
        <p:spPr>
          <a:xfrm>
            <a:off x="594360" y="1444752"/>
            <a:ext cx="109728" cy="109728"/>
          </a:xfrm>
          <a:prstGeom prst="ellipse">
            <a:avLst/>
          </a:prstGeom>
          <a:solidFill>
            <a:srgbClr val="F2B705"/>
          </a:solidFill>
          <a:ln/>
        </p:spPr>
      </p:sp>
      <p:sp>
        <p:nvSpPr>
          <p:cNvPr id="4" name="Text 2"/>
          <p:cNvSpPr/>
          <p:nvPr/>
        </p:nvSpPr>
        <p:spPr>
          <a:xfrm>
            <a:off x="868680" y="1371600"/>
            <a:ext cx="10515600" cy="685800"/>
          </a:xfrm>
          <a:prstGeom prst="rect">
            <a:avLst/>
          </a:prstGeom>
          <a:noFill/>
          <a:ln/>
        </p:spPr>
        <p:txBody>
          <a:bodyPr wrap="square" lIns="0" tIns="0" rIns="0" bIns="0" rtlCol="0" anchor="t"/>
          <a:lstStyle/>
          <a:p>
            <a:pPr algn="l" indent="0" marL="0">
              <a:lnSpc>
                <a:spcPct val="115000"/>
              </a:lnSpc>
              <a:buNone/>
            </a:pPr>
            <a:r>
              <a:rPr lang="en-US" sz="1300" dirty="0">
                <a:solidFill>
                  <a:srgbClr val="D7DBF2"/>
                </a:solidFill>
                <a:latin typeface="Calibri" pitchFamily="34" charset="0"/>
                <a:ea typeface="Calibri" pitchFamily="34" charset="-122"/>
                <a:cs typeface="Calibri" pitchFamily="34" charset="-120"/>
              </a:rPr>
              <a:t>Putchuon – “Put You On.” (2024, May 30). The entire history of artificial intelligence (last 100 years) [Video]. YouTube.</a:t>
            </a:r>
            <a:endParaRPr lang="en-US" sz="1300" dirty="0"/>
          </a:p>
        </p:txBody>
      </p:sp>
      <p:sp>
        <p:nvSpPr>
          <p:cNvPr id="5" name="Shape 3"/>
          <p:cNvSpPr/>
          <p:nvPr/>
        </p:nvSpPr>
        <p:spPr>
          <a:xfrm>
            <a:off x="594360" y="2221992"/>
            <a:ext cx="109728" cy="109728"/>
          </a:xfrm>
          <a:prstGeom prst="ellipse">
            <a:avLst/>
          </a:prstGeom>
          <a:solidFill>
            <a:srgbClr val="F2B705"/>
          </a:solidFill>
          <a:ln/>
        </p:spPr>
      </p:sp>
      <p:sp>
        <p:nvSpPr>
          <p:cNvPr id="6" name="Text 4"/>
          <p:cNvSpPr/>
          <p:nvPr/>
        </p:nvSpPr>
        <p:spPr>
          <a:xfrm>
            <a:off x="868680" y="2148840"/>
            <a:ext cx="10515600" cy="685800"/>
          </a:xfrm>
          <a:prstGeom prst="rect">
            <a:avLst/>
          </a:prstGeom>
          <a:noFill/>
          <a:ln/>
        </p:spPr>
        <p:txBody>
          <a:bodyPr wrap="square" lIns="0" tIns="0" rIns="0" bIns="0" rtlCol="0" anchor="t"/>
          <a:lstStyle/>
          <a:p>
            <a:pPr algn="l" indent="0" marL="0">
              <a:lnSpc>
                <a:spcPct val="115000"/>
              </a:lnSpc>
              <a:buNone/>
            </a:pPr>
            <a:r>
              <a:rPr lang="en-US" sz="1300" dirty="0">
                <a:solidFill>
                  <a:srgbClr val="D7DBF2"/>
                </a:solidFill>
                <a:latin typeface="Calibri" pitchFamily="34" charset="0"/>
                <a:ea typeface="Calibri" pitchFamily="34" charset="-122"/>
                <a:cs typeface="Calibri" pitchFamily="34" charset="-120"/>
              </a:rPr>
              <a:t>IEEE Computer Society. (n.d.). The evolution of AI: From foundations to future prospects. computer.org.</a:t>
            </a:r>
            <a:endParaRPr lang="en-US" sz="1300" dirty="0"/>
          </a:p>
        </p:txBody>
      </p:sp>
      <p:sp>
        <p:nvSpPr>
          <p:cNvPr id="7" name="Shape 5"/>
          <p:cNvSpPr/>
          <p:nvPr/>
        </p:nvSpPr>
        <p:spPr>
          <a:xfrm>
            <a:off x="594360" y="2999232"/>
            <a:ext cx="109728" cy="109728"/>
          </a:xfrm>
          <a:prstGeom prst="ellipse">
            <a:avLst/>
          </a:prstGeom>
          <a:solidFill>
            <a:srgbClr val="F2B705"/>
          </a:solidFill>
          <a:ln/>
        </p:spPr>
      </p:sp>
      <p:sp>
        <p:nvSpPr>
          <p:cNvPr id="8" name="Text 6"/>
          <p:cNvSpPr/>
          <p:nvPr/>
        </p:nvSpPr>
        <p:spPr>
          <a:xfrm>
            <a:off x="868680" y="2926080"/>
            <a:ext cx="10515600" cy="685800"/>
          </a:xfrm>
          <a:prstGeom prst="rect">
            <a:avLst/>
          </a:prstGeom>
          <a:noFill/>
          <a:ln/>
        </p:spPr>
        <p:txBody>
          <a:bodyPr wrap="square" lIns="0" tIns="0" rIns="0" bIns="0" rtlCol="0" anchor="t"/>
          <a:lstStyle/>
          <a:p>
            <a:pPr algn="l" indent="0" marL="0">
              <a:lnSpc>
                <a:spcPct val="115000"/>
              </a:lnSpc>
              <a:buNone/>
            </a:pPr>
            <a:r>
              <a:rPr lang="en-US" sz="1300" dirty="0">
                <a:solidFill>
                  <a:srgbClr val="D7DBF2"/>
                </a:solidFill>
                <a:latin typeface="Calibri" pitchFamily="34" charset="0"/>
                <a:ea typeface="Calibri" pitchFamily="34" charset="-122"/>
                <a:cs typeface="Calibri" pitchFamily="34" charset="-120"/>
              </a:rPr>
              <a:t>Bender, E., &amp; Our World in Data. (n.d.). A brief history of artificial intelligence. ourworldindata.org.</a:t>
            </a:r>
            <a:endParaRPr lang="en-US" sz="1300" dirty="0"/>
          </a:p>
        </p:txBody>
      </p:sp>
      <p:sp>
        <p:nvSpPr>
          <p:cNvPr id="9" name="Shape 7"/>
          <p:cNvSpPr/>
          <p:nvPr/>
        </p:nvSpPr>
        <p:spPr>
          <a:xfrm>
            <a:off x="594360" y="3776472"/>
            <a:ext cx="109728" cy="109728"/>
          </a:xfrm>
          <a:prstGeom prst="ellipse">
            <a:avLst/>
          </a:prstGeom>
          <a:solidFill>
            <a:srgbClr val="F2B705"/>
          </a:solidFill>
          <a:ln/>
        </p:spPr>
      </p:sp>
      <p:sp>
        <p:nvSpPr>
          <p:cNvPr id="10" name="Text 8"/>
          <p:cNvSpPr/>
          <p:nvPr/>
        </p:nvSpPr>
        <p:spPr>
          <a:xfrm>
            <a:off x="868680" y="3703320"/>
            <a:ext cx="10515600" cy="685800"/>
          </a:xfrm>
          <a:prstGeom prst="rect">
            <a:avLst/>
          </a:prstGeom>
          <a:noFill/>
          <a:ln/>
        </p:spPr>
        <p:txBody>
          <a:bodyPr wrap="square" lIns="0" tIns="0" rIns="0" bIns="0" rtlCol="0" anchor="t"/>
          <a:lstStyle/>
          <a:p>
            <a:pPr algn="l" indent="0" marL="0">
              <a:lnSpc>
                <a:spcPct val="115000"/>
              </a:lnSpc>
              <a:buNone/>
            </a:pPr>
            <a:r>
              <a:rPr lang="en-US" sz="1300" dirty="0">
                <a:solidFill>
                  <a:srgbClr val="D7DBF2"/>
                </a:solidFill>
                <a:latin typeface="Calibri" pitchFamily="34" charset="0"/>
                <a:ea typeface="Calibri" pitchFamily="34" charset="-122"/>
                <a:cs typeface="Calibri" pitchFamily="34" charset="-120"/>
              </a:rPr>
              <a:t>Additional facts (AI winter causes, AlexNet authorship, Transformer paper) were cross-checked against current web sources, including Wikipedia's “AI winter” entry and reporting on the AlexNet and “Attention Is All You Need” papers.</a:t>
            </a:r>
            <a:endParaRPr lang="en-US" sz="1300" dirty="0"/>
          </a:p>
        </p:txBody>
      </p:sp>
      <p:sp>
        <p:nvSpPr>
          <p:cNvPr id="11" name="Text 9"/>
          <p:cNvSpPr/>
          <p:nvPr/>
        </p:nvSpPr>
        <p:spPr>
          <a:xfrm>
            <a:off x="822960" y="4617720"/>
            <a:ext cx="10515600" cy="1051560"/>
          </a:xfrm>
          <a:prstGeom prst="rect">
            <a:avLst/>
          </a:prstGeom>
          <a:noFill/>
          <a:ln/>
        </p:spPr>
        <p:txBody>
          <a:bodyPr wrap="square" lIns="0" tIns="0" rIns="0" bIns="0" rtlCol="0" anchor="ctr"/>
          <a:lstStyle/>
          <a:p>
            <a:pPr indent="0" marL="0">
              <a:lnSpc>
                <a:spcPct val="115000"/>
              </a:lnSpc>
              <a:buNone/>
            </a:pPr>
            <a:r>
              <a:rPr lang="en-US" sz="1200" b="1" dirty="0">
                <a:solidFill>
                  <a:srgbClr val="F2B705"/>
                </a:solidFill>
                <a:latin typeface="Calibri" pitchFamily="34" charset="0"/>
                <a:ea typeface="Calibri" pitchFamily="34" charset="-122"/>
                <a:cs typeface="Calibri" pitchFamily="34" charset="-120"/>
              </a:rPr>
              <a:t>AI assistance disclosure: </a:t>
            </a:r>
            <a:pPr indent="0" marL="0">
              <a:lnSpc>
                <a:spcPct val="115000"/>
              </a:lnSpc>
              <a:buNone/>
            </a:pPr>
            <a:r>
              <a:rPr lang="en-US" sz="1200" dirty="0">
                <a:solidFill>
                  <a:srgbClr val="D7DBF2"/>
                </a:solidFill>
                <a:latin typeface="Calibri" pitchFamily="34" charset="0"/>
                <a:ea typeface="Calibri" pitchFamily="34" charset="-122"/>
                <a:cs typeface="Calibri" pitchFamily="34" charset="-120"/>
              </a:rPr>
              <a:t>I used Claude (Anthropic) to search the web for and verify historical facts, dates, and names drawn from the sources above (for example, confirming AlexNet's authors, the AI winter timelines, and the Transformer paper's origin), and to help design and lay out this timeline.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2026-07-11T16:31:20Z</dcterms:created>
  <dcterms:modified xsi:type="dcterms:W3CDTF">2026-07-11T16:31:20Z</dcterms:modified>
</cp:coreProperties>
</file>